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5" r:id="rId9"/>
    <p:sldId id="263" r:id="rId10"/>
    <p:sldId id="269" r:id="rId11"/>
    <p:sldId id="264"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1" d="100"/>
          <a:sy n="141" d="100"/>
        </p:scale>
        <p:origin x="66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84355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B91EF-7FC5-5AC0-D448-1D44DA72C0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62A64-AED3-AB95-FADE-986F9EF96F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22D76C-3A56-9242-00AC-F1CFE99B23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B931A0-3359-C467-8CC0-31D9596754D3}"/>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2084202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344"/>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5935A"/>
          </a:solidFill>
          <a:ln w="12700">
            <a:solidFill>
              <a:srgbClr val="B5935A"/>
            </a:solidFill>
            <a:prstDash val="solid"/>
          </a:ln>
        </p:spPr>
        <p:txBody>
          <a:bodyPr/>
          <a:lstStyle/>
          <a:p>
            <a:endParaRPr lang="en-US"/>
          </a:p>
        </p:txBody>
      </p:sp>
      <p:sp>
        <p:nvSpPr>
          <p:cNvPr id="3" name="Text 1"/>
          <p:cNvSpPr/>
          <p:nvPr/>
        </p:nvSpPr>
        <p:spPr>
          <a:xfrm>
            <a:off x="457200" y="365760"/>
            <a:ext cx="8229600" cy="274320"/>
          </a:xfrm>
          <a:prstGeom prst="rect">
            <a:avLst/>
          </a:prstGeom>
          <a:noFill/>
          <a:ln/>
        </p:spPr>
        <p:txBody>
          <a:bodyPr wrap="square" lIns="0" tIns="0" rIns="0" bIns="0" rtlCol="0" anchor="ctr"/>
          <a:lstStyle/>
          <a:p>
            <a:pPr marL="0" indent="0">
              <a:buNone/>
            </a:pPr>
            <a:r>
              <a:rPr lang="en-US" sz="1400" b="1" kern="0" spc="300" dirty="0">
                <a:solidFill>
                  <a:srgbClr val="B5935A"/>
                </a:solidFill>
                <a:latin typeface="Georgia" pitchFamily="34" charset="0"/>
                <a:ea typeface="Georgia" pitchFamily="34" charset="-122"/>
                <a:cs typeface="Georgia" pitchFamily="34" charset="-120"/>
              </a:rPr>
              <a:t>BLACK BOX</a:t>
            </a:r>
            <a:endParaRPr lang="en-US" sz="1400" dirty="0"/>
          </a:p>
        </p:txBody>
      </p:sp>
      <p:sp>
        <p:nvSpPr>
          <p:cNvPr id="4" name="Text 2"/>
          <p:cNvSpPr/>
          <p:nvPr/>
        </p:nvSpPr>
        <p:spPr>
          <a:xfrm>
            <a:off x="457200" y="658368"/>
            <a:ext cx="8229600" cy="22860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APPLICATION SUPPORT  ·  OCTOBER 2026</a:t>
            </a:r>
            <a:endParaRPr lang="en-US" sz="1100" dirty="0"/>
          </a:p>
        </p:txBody>
      </p:sp>
      <p:sp>
        <p:nvSpPr>
          <p:cNvPr id="5" name="Text 3"/>
          <p:cNvSpPr/>
          <p:nvPr/>
        </p:nvSpPr>
        <p:spPr>
          <a:xfrm>
            <a:off x="457200" y="1371600"/>
            <a:ext cx="8229600" cy="50292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Ultra Gas &amp; Greenline</a:t>
            </a:r>
            <a:endParaRPr lang="en-US" sz="3200" dirty="0"/>
          </a:p>
        </p:txBody>
      </p:sp>
      <p:sp>
        <p:nvSpPr>
          <p:cNvPr id="6" name="Text 4"/>
          <p:cNvSpPr/>
          <p:nvPr/>
        </p:nvSpPr>
        <p:spPr>
          <a:xfrm>
            <a:off x="457200" y="1920240"/>
            <a:ext cx="8229600" cy="320040"/>
          </a:xfrm>
          <a:prstGeom prst="rect">
            <a:avLst/>
          </a:prstGeom>
          <a:noFill/>
          <a:ln/>
        </p:spPr>
        <p:txBody>
          <a:bodyPr wrap="square" lIns="0" tIns="0" rIns="0" bIns="0" rtlCol="0" anchor="ctr"/>
          <a:lstStyle/>
          <a:p>
            <a:pPr marL="0" indent="0">
              <a:buNone/>
            </a:pPr>
            <a:r>
              <a:rPr lang="en-US" sz="1600" dirty="0">
                <a:solidFill>
                  <a:srgbClr val="D4AF70"/>
                </a:solidFill>
                <a:latin typeface="Calibri" pitchFamily="34" charset="0"/>
                <a:ea typeface="Calibri" pitchFamily="34" charset="-122"/>
                <a:cs typeface="Calibri" pitchFamily="34" charset="-120"/>
              </a:rPr>
              <a:t>Monthly Application Support Report</a:t>
            </a:r>
            <a:endParaRPr lang="en-US" sz="1600" dirty="0"/>
          </a:p>
        </p:txBody>
      </p:sp>
      <p:sp>
        <p:nvSpPr>
          <p:cNvPr id="7" name="Shape 5"/>
          <p:cNvSpPr/>
          <p:nvPr/>
        </p:nvSpPr>
        <p:spPr>
          <a:xfrm>
            <a:off x="457200" y="2651760"/>
            <a:ext cx="2651760" cy="1188720"/>
          </a:xfrm>
          <a:prstGeom prst="roundRect">
            <a:avLst>
              <a:gd name="adj" fmla="val 6154"/>
            </a:avLst>
          </a:prstGeom>
          <a:solidFill>
            <a:srgbClr val="1A3A5C"/>
          </a:solidFill>
          <a:ln w="12700">
            <a:solidFill>
              <a:srgbClr val="B5935A"/>
            </a:solidFill>
            <a:prstDash val="solid"/>
          </a:ln>
        </p:spPr>
        <p:txBody>
          <a:bodyPr/>
          <a:lstStyle/>
          <a:p>
            <a:endParaRPr lang="en-US"/>
          </a:p>
        </p:txBody>
      </p:sp>
      <p:sp>
        <p:nvSpPr>
          <p:cNvPr id="8" name="Text 6"/>
          <p:cNvSpPr/>
          <p:nvPr/>
        </p:nvSpPr>
        <p:spPr>
          <a:xfrm>
            <a:off x="594360" y="2880360"/>
            <a:ext cx="237744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Black Box</a:t>
            </a:r>
            <a:endParaRPr lang="en-US" sz="1600" dirty="0"/>
          </a:p>
        </p:txBody>
      </p:sp>
      <p:sp>
        <p:nvSpPr>
          <p:cNvPr id="9" name="Text 7"/>
          <p:cNvSpPr/>
          <p:nvPr/>
        </p:nvSpPr>
        <p:spPr>
          <a:xfrm>
            <a:off x="594360" y="3291840"/>
            <a:ext cx="2377440" cy="274320"/>
          </a:xfrm>
          <a:prstGeom prst="rect">
            <a:avLst/>
          </a:prstGeom>
          <a:noFill/>
          <a:ln/>
        </p:spPr>
        <p:txBody>
          <a:bodyPr wrap="square" lIns="0" tIns="0" rIns="0" bIns="0" rtlCol="0" anchor="ctr"/>
          <a:lstStyle/>
          <a:p>
            <a:pPr marL="0" indent="0" algn="ctr">
              <a:buNone/>
            </a:pPr>
            <a:r>
              <a:rPr lang="en-US" sz="1200" dirty="0">
                <a:solidFill>
                  <a:srgbClr val="D4AF70"/>
                </a:solidFill>
                <a:latin typeface="Calibri" pitchFamily="34" charset="0"/>
                <a:ea typeface="Calibri" pitchFamily="34" charset="-122"/>
                <a:cs typeface="Calibri" pitchFamily="34" charset="-120"/>
              </a:rPr>
              <a:t>Support Partner</a:t>
            </a:r>
            <a:endParaRPr lang="en-US" sz="1200" dirty="0"/>
          </a:p>
        </p:txBody>
      </p:sp>
      <p:sp>
        <p:nvSpPr>
          <p:cNvPr id="10" name="Shape 8"/>
          <p:cNvSpPr/>
          <p:nvPr/>
        </p:nvSpPr>
        <p:spPr>
          <a:xfrm>
            <a:off x="3291840" y="2651760"/>
            <a:ext cx="2651760" cy="1188720"/>
          </a:xfrm>
          <a:prstGeom prst="roundRect">
            <a:avLst>
              <a:gd name="adj" fmla="val 6154"/>
            </a:avLst>
          </a:prstGeom>
          <a:solidFill>
            <a:srgbClr val="1A3A5C"/>
          </a:solidFill>
          <a:ln w="12700">
            <a:solidFill>
              <a:srgbClr val="B5935A"/>
            </a:solidFill>
            <a:prstDash val="solid"/>
          </a:ln>
        </p:spPr>
        <p:txBody>
          <a:bodyPr/>
          <a:lstStyle/>
          <a:p>
            <a:endParaRPr lang="en-US"/>
          </a:p>
        </p:txBody>
      </p:sp>
      <p:sp>
        <p:nvSpPr>
          <p:cNvPr id="11" name="Text 9"/>
          <p:cNvSpPr/>
          <p:nvPr/>
        </p:nvSpPr>
        <p:spPr>
          <a:xfrm>
            <a:off x="3429000" y="2880360"/>
            <a:ext cx="237744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Ultra Gas</a:t>
            </a:r>
            <a:endParaRPr lang="en-US" sz="1600" dirty="0"/>
          </a:p>
        </p:txBody>
      </p:sp>
      <p:sp>
        <p:nvSpPr>
          <p:cNvPr id="12" name="Text 10"/>
          <p:cNvSpPr/>
          <p:nvPr/>
        </p:nvSpPr>
        <p:spPr>
          <a:xfrm>
            <a:off x="3429000" y="3291840"/>
            <a:ext cx="2377440" cy="274320"/>
          </a:xfrm>
          <a:prstGeom prst="rect">
            <a:avLst/>
          </a:prstGeom>
          <a:noFill/>
          <a:ln/>
        </p:spPr>
        <p:txBody>
          <a:bodyPr wrap="square" lIns="0" tIns="0" rIns="0" bIns="0" rtlCol="0" anchor="ctr"/>
          <a:lstStyle/>
          <a:p>
            <a:pPr marL="0" indent="0" algn="ctr">
              <a:buNone/>
            </a:pPr>
            <a:r>
              <a:rPr lang="en-US" sz="1200" dirty="0">
                <a:solidFill>
                  <a:srgbClr val="D4AF70"/>
                </a:solidFill>
                <a:latin typeface="Calibri" pitchFamily="34" charset="0"/>
                <a:ea typeface="Calibri" pitchFamily="34" charset="-122"/>
                <a:cs typeface="Calibri" pitchFamily="34" charset="-120"/>
              </a:rPr>
              <a:t>Green Energy</a:t>
            </a:r>
            <a:endParaRPr lang="en-US" sz="1200" dirty="0"/>
          </a:p>
        </p:txBody>
      </p:sp>
      <p:sp>
        <p:nvSpPr>
          <p:cNvPr id="13" name="Shape 11"/>
          <p:cNvSpPr/>
          <p:nvPr/>
        </p:nvSpPr>
        <p:spPr>
          <a:xfrm>
            <a:off x="6126480" y="2651760"/>
            <a:ext cx="2651760" cy="1188720"/>
          </a:xfrm>
          <a:prstGeom prst="roundRect">
            <a:avLst>
              <a:gd name="adj" fmla="val 6154"/>
            </a:avLst>
          </a:prstGeom>
          <a:solidFill>
            <a:srgbClr val="1A3A5C"/>
          </a:solidFill>
          <a:ln w="12700">
            <a:solidFill>
              <a:srgbClr val="B5935A"/>
            </a:solidFill>
            <a:prstDash val="solid"/>
          </a:ln>
        </p:spPr>
        <p:txBody>
          <a:bodyPr/>
          <a:lstStyle/>
          <a:p>
            <a:endParaRPr lang="en-US"/>
          </a:p>
        </p:txBody>
      </p:sp>
      <p:sp>
        <p:nvSpPr>
          <p:cNvPr id="14" name="Text 12"/>
          <p:cNvSpPr/>
          <p:nvPr/>
        </p:nvSpPr>
        <p:spPr>
          <a:xfrm>
            <a:off x="6263640" y="2880360"/>
            <a:ext cx="237744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Greenline</a:t>
            </a:r>
            <a:endParaRPr lang="en-US" sz="1600" dirty="0"/>
          </a:p>
        </p:txBody>
      </p:sp>
      <p:sp>
        <p:nvSpPr>
          <p:cNvPr id="15" name="Text 13"/>
          <p:cNvSpPr/>
          <p:nvPr/>
        </p:nvSpPr>
        <p:spPr>
          <a:xfrm>
            <a:off x="6263640" y="3291840"/>
            <a:ext cx="2377440" cy="274320"/>
          </a:xfrm>
          <a:prstGeom prst="rect">
            <a:avLst/>
          </a:prstGeom>
          <a:noFill/>
          <a:ln/>
        </p:spPr>
        <p:txBody>
          <a:bodyPr wrap="square" lIns="0" tIns="0" rIns="0" bIns="0" rtlCol="0" anchor="ctr"/>
          <a:lstStyle/>
          <a:p>
            <a:pPr marL="0" indent="0" algn="ctr">
              <a:buNone/>
            </a:pPr>
            <a:r>
              <a:rPr lang="en-US" sz="1200" dirty="0">
                <a:solidFill>
                  <a:srgbClr val="D4AF70"/>
                </a:solidFill>
                <a:latin typeface="Calibri" pitchFamily="34" charset="0"/>
                <a:ea typeface="Calibri" pitchFamily="34" charset="-122"/>
                <a:cs typeface="Calibri" pitchFamily="34" charset="-120"/>
              </a:rPr>
              <a:t>Green Logistics</a:t>
            </a:r>
            <a:endParaRPr lang="en-US" sz="1200" dirty="0"/>
          </a:p>
        </p:txBody>
      </p:sp>
      <p:sp>
        <p:nvSpPr>
          <p:cNvPr id="16" name="Text 14"/>
          <p:cNvSpPr/>
          <p:nvPr/>
        </p:nvSpPr>
        <p:spPr>
          <a:xfrm>
            <a:off x="457200" y="4114800"/>
            <a:ext cx="8229600" cy="27432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Web Support  ·  SAP Support (FI / MM / SD)  ·  Incident Management</a:t>
            </a:r>
            <a:endParaRPr lang="en-US" sz="1300" dirty="0"/>
          </a:p>
        </p:txBody>
      </p:sp>
      <p:sp>
        <p:nvSpPr>
          <p:cNvPr id="17" name="Shape 15"/>
          <p:cNvSpPr/>
          <p:nvPr/>
        </p:nvSpPr>
        <p:spPr>
          <a:xfrm>
            <a:off x="0" y="4828032"/>
            <a:ext cx="9144000" cy="310896"/>
          </a:xfrm>
          <a:prstGeom prst="rect">
            <a:avLst/>
          </a:prstGeom>
          <a:solidFill>
            <a:srgbClr val="0B2344"/>
          </a:solidFill>
          <a:ln w="12700">
            <a:solidFill>
              <a:srgbClr val="0B2344"/>
            </a:solidFill>
            <a:prstDash val="solid"/>
          </a:ln>
        </p:spPr>
        <p:txBody>
          <a:bodyPr/>
          <a:lstStyle/>
          <a:p>
            <a:endParaRPr lang="en-US" dirty="0"/>
          </a:p>
        </p:txBody>
      </p:sp>
      <p:sp>
        <p:nvSpPr>
          <p:cNvPr id="18" name="Text 16"/>
          <p:cNvSpPr/>
          <p:nvPr/>
        </p:nvSpPr>
        <p:spPr>
          <a:xfrm>
            <a:off x="274320" y="4828032"/>
            <a:ext cx="7132320" cy="310896"/>
          </a:xfrm>
          <a:prstGeom prst="rect">
            <a:avLst/>
          </a:prstGeom>
          <a:noFill/>
          <a:ln/>
        </p:spPr>
        <p:txBody>
          <a:bodyPr wrap="square" lIns="0" tIns="0" rIns="0" bIns="0" rtlCol="0" anchor="ctr"/>
          <a:lstStyle/>
          <a:p>
            <a:pPr marL="0" indent="0">
              <a:buNone/>
            </a:pPr>
            <a:r>
              <a:rPr lang="en-US" sz="800" dirty="0">
                <a:solidFill>
                  <a:srgbClr val="B5935A"/>
                </a:solidFill>
                <a:latin typeface="Calibri" pitchFamily="34" charset="0"/>
                <a:ea typeface="Calibri" pitchFamily="34" charset="-122"/>
                <a:cs typeface="Calibri" pitchFamily="34" charset="-120"/>
              </a:rPr>
              <a:t>Black Box  |  Application Support Report  |  Ultra Gas &amp; Greenline  |  October 2026</a:t>
            </a:r>
            <a:endParaRPr lang="en-US" sz="800" dirty="0"/>
          </a:p>
        </p:txBody>
      </p:sp>
      <p:sp>
        <p:nvSpPr>
          <p:cNvPr id="19" name="Text 17"/>
          <p:cNvSpPr/>
          <p:nvPr/>
        </p:nvSpPr>
        <p:spPr>
          <a:xfrm>
            <a:off x="7863840" y="4828032"/>
            <a:ext cx="1097280" cy="310896"/>
          </a:xfrm>
          <a:prstGeom prst="rect">
            <a:avLst/>
          </a:prstGeom>
          <a:noFill/>
          <a:ln/>
        </p:spPr>
        <p:txBody>
          <a:bodyPr wrap="square" lIns="0" tIns="0" rIns="0" bIns="0"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1 / 10</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0040" y="137160"/>
            <a:ext cx="8503920" cy="237744"/>
          </a:xfrm>
          <a:prstGeom prst="rect">
            <a:avLst/>
          </a:prstGeom>
          <a:noFill/>
          <a:ln/>
        </p:spPr>
        <p:txBody>
          <a:bodyPr wrap="square" lIns="0" tIns="0" rIns="0" bIns="0" rtlCol="0" anchor="ctr"/>
          <a:lstStyle/>
          <a:p>
            <a:pPr marL="0" indent="0">
              <a:buNone/>
            </a:pPr>
            <a:r>
              <a:rPr lang="en-US" sz="800" b="1" kern="0" spc="200" dirty="0">
                <a:solidFill>
                  <a:srgbClr val="B5935A"/>
                </a:solidFill>
                <a:latin typeface="Calibri" pitchFamily="34" charset="0"/>
                <a:ea typeface="Calibri" pitchFamily="34" charset="-122"/>
                <a:cs typeface="Calibri" pitchFamily="34" charset="-120"/>
              </a:rPr>
              <a:t>OVERVIEW</a:t>
            </a:r>
            <a:endParaRPr lang="en-US" sz="800" dirty="0"/>
          </a:p>
        </p:txBody>
      </p:sp>
      <p:sp>
        <p:nvSpPr>
          <p:cNvPr id="3" name="Text 1"/>
          <p:cNvSpPr/>
          <p:nvPr/>
        </p:nvSpPr>
        <p:spPr>
          <a:xfrm>
            <a:off x="320040" y="411480"/>
            <a:ext cx="8503920" cy="365760"/>
          </a:xfrm>
          <a:prstGeom prst="rect">
            <a:avLst/>
          </a:prstGeom>
          <a:noFill/>
          <a:ln/>
        </p:spPr>
        <p:txBody>
          <a:bodyPr wrap="square" lIns="0" tIns="0" rIns="0" bIns="0" rtlCol="0" anchor="ctr"/>
          <a:lstStyle/>
          <a:p>
            <a:pPr marL="0" indent="0">
              <a:buNone/>
            </a:pPr>
            <a:r>
              <a:rPr lang="en-US" sz="2200" b="1" dirty="0">
                <a:solidFill>
                  <a:srgbClr val="0B2344"/>
                </a:solidFill>
                <a:latin typeface="Georgia" pitchFamily="34" charset="0"/>
                <a:ea typeface="Georgia" pitchFamily="34" charset="-122"/>
                <a:cs typeface="Georgia" pitchFamily="34" charset="-120"/>
              </a:rPr>
              <a:t>October 2026 Support Snapshot</a:t>
            </a:r>
            <a:endParaRPr lang="en-US" sz="2200" dirty="0"/>
          </a:p>
        </p:txBody>
      </p:sp>
      <p:sp>
        <p:nvSpPr>
          <p:cNvPr id="4" name="Shape 2"/>
          <p:cNvSpPr/>
          <p:nvPr/>
        </p:nvSpPr>
        <p:spPr>
          <a:xfrm>
            <a:off x="320040" y="1005840"/>
            <a:ext cx="2057400" cy="1234440"/>
          </a:xfrm>
          <a:prstGeom prst="roundRect">
            <a:avLst>
              <a:gd name="adj" fmla="val 4444"/>
            </a:avLst>
          </a:prstGeom>
          <a:solidFill>
            <a:srgbClr val="F7F6F2"/>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5" name="Text 3"/>
          <p:cNvSpPr/>
          <p:nvPr/>
        </p:nvSpPr>
        <p:spPr>
          <a:xfrm>
            <a:off x="411480" y="1097280"/>
            <a:ext cx="1874520" cy="457200"/>
          </a:xfrm>
          <a:prstGeom prst="rect">
            <a:avLst/>
          </a:prstGeom>
          <a:noFill/>
          <a:ln/>
        </p:spPr>
        <p:txBody>
          <a:bodyPr wrap="square" lIns="0" tIns="0" rIns="0" bIns="0" rtlCol="0" anchor="ctr"/>
          <a:lstStyle/>
          <a:p>
            <a:pPr marL="0" indent="0" algn="ctr">
              <a:buNone/>
            </a:pPr>
            <a:r>
              <a:rPr lang="en-US" sz="2800" b="1" dirty="0">
                <a:solidFill>
                  <a:srgbClr val="276749"/>
                </a:solidFill>
                <a:latin typeface="Georgia" pitchFamily="34" charset="0"/>
                <a:ea typeface="Georgia" pitchFamily="34" charset="-122"/>
                <a:cs typeface="Georgia" pitchFamily="34" charset="-120"/>
              </a:rPr>
              <a:t>2</a:t>
            </a:r>
            <a:endParaRPr lang="en-US" sz="2800" dirty="0"/>
          </a:p>
        </p:txBody>
      </p:sp>
      <p:sp>
        <p:nvSpPr>
          <p:cNvPr id="6" name="Text 4"/>
          <p:cNvSpPr/>
          <p:nvPr/>
        </p:nvSpPr>
        <p:spPr>
          <a:xfrm>
            <a:off x="411480" y="1600200"/>
            <a:ext cx="1874520" cy="502920"/>
          </a:xfrm>
          <a:prstGeom prst="rect">
            <a:avLst/>
          </a:prstGeom>
          <a:noFill/>
          <a:ln/>
        </p:spPr>
        <p:txBody>
          <a:bodyPr wrap="square" lIns="0" tIns="0" rIns="0" bIns="0" rtlCol="0" anchor="ctr"/>
          <a:lstStyle/>
          <a:p>
            <a:pPr marL="0" indent="0" algn="ctr">
              <a:buNone/>
            </a:pPr>
            <a:r>
              <a:rPr lang="en-US" sz="1200" dirty="0">
                <a:solidFill>
                  <a:srgbClr val="4A5568"/>
                </a:solidFill>
                <a:latin typeface="Calibri" pitchFamily="34" charset="0"/>
                <a:ea typeface="Calibri" pitchFamily="34" charset="-122"/>
                <a:cs typeface="Calibri" pitchFamily="34" charset="-120"/>
              </a:rPr>
              <a:t>Major Web</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Enhancements Live</a:t>
            </a:r>
            <a:endParaRPr lang="en-US" sz="1200" dirty="0"/>
          </a:p>
        </p:txBody>
      </p:sp>
      <p:sp>
        <p:nvSpPr>
          <p:cNvPr id="7" name="Shape 5"/>
          <p:cNvSpPr/>
          <p:nvPr/>
        </p:nvSpPr>
        <p:spPr>
          <a:xfrm>
            <a:off x="2514600" y="1005840"/>
            <a:ext cx="2057400" cy="1234440"/>
          </a:xfrm>
          <a:prstGeom prst="roundRect">
            <a:avLst>
              <a:gd name="adj" fmla="val 4444"/>
            </a:avLst>
          </a:prstGeom>
          <a:solidFill>
            <a:srgbClr val="F7F6F2"/>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8" name="Text 6"/>
          <p:cNvSpPr/>
          <p:nvPr/>
        </p:nvSpPr>
        <p:spPr>
          <a:xfrm>
            <a:off x="2606040" y="1097280"/>
            <a:ext cx="1874520" cy="457200"/>
          </a:xfrm>
          <a:prstGeom prst="rect">
            <a:avLst/>
          </a:prstGeom>
          <a:noFill/>
          <a:ln/>
        </p:spPr>
        <p:txBody>
          <a:bodyPr wrap="square" lIns="0" tIns="0" rIns="0" bIns="0" rtlCol="0" anchor="ctr"/>
          <a:lstStyle/>
          <a:p>
            <a:pPr marL="0" indent="0" algn="ctr">
              <a:buNone/>
            </a:pPr>
            <a:r>
              <a:rPr lang="en-US" sz="2800" b="1" dirty="0">
                <a:solidFill>
                  <a:srgbClr val="C05621"/>
                </a:solidFill>
                <a:latin typeface="Georgia" pitchFamily="34" charset="0"/>
                <a:ea typeface="Georgia" pitchFamily="34" charset="-122"/>
                <a:cs typeface="Georgia" pitchFamily="34" charset="-120"/>
              </a:rPr>
              <a:t>2</a:t>
            </a:r>
            <a:endParaRPr lang="en-US" sz="2800" dirty="0"/>
          </a:p>
        </p:txBody>
      </p:sp>
      <p:sp>
        <p:nvSpPr>
          <p:cNvPr id="9" name="Text 7"/>
          <p:cNvSpPr/>
          <p:nvPr/>
        </p:nvSpPr>
        <p:spPr>
          <a:xfrm>
            <a:off x="2606040" y="1600200"/>
            <a:ext cx="1874520" cy="502920"/>
          </a:xfrm>
          <a:prstGeom prst="rect">
            <a:avLst/>
          </a:prstGeom>
          <a:noFill/>
          <a:ln/>
        </p:spPr>
        <p:txBody>
          <a:bodyPr wrap="square" lIns="0" tIns="0" rIns="0" bIns="0" rtlCol="0" anchor="ctr"/>
          <a:lstStyle/>
          <a:p>
            <a:pPr marL="0" indent="0" algn="ctr">
              <a:buNone/>
            </a:pPr>
            <a:r>
              <a:rPr lang="en-US" sz="1200" dirty="0">
                <a:solidFill>
                  <a:srgbClr val="4A5568"/>
                </a:solidFill>
                <a:latin typeface="Calibri" pitchFamily="34" charset="0"/>
                <a:ea typeface="Calibri" pitchFamily="34" charset="-122"/>
                <a:cs typeface="Calibri" pitchFamily="34" charset="-120"/>
              </a:rPr>
              <a:t>Web Initiatives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In Progress</a:t>
            </a:r>
            <a:endParaRPr lang="en-US" sz="1200" dirty="0"/>
          </a:p>
        </p:txBody>
      </p:sp>
      <p:sp>
        <p:nvSpPr>
          <p:cNvPr id="10" name="Shape 8"/>
          <p:cNvSpPr/>
          <p:nvPr/>
        </p:nvSpPr>
        <p:spPr>
          <a:xfrm>
            <a:off x="4709160" y="1005840"/>
            <a:ext cx="2057400" cy="1234440"/>
          </a:xfrm>
          <a:prstGeom prst="roundRect">
            <a:avLst>
              <a:gd name="adj" fmla="val 4444"/>
            </a:avLst>
          </a:prstGeom>
          <a:solidFill>
            <a:srgbClr val="F7F6F2"/>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n-US"/>
          </a:p>
        </p:txBody>
      </p:sp>
      <p:sp>
        <p:nvSpPr>
          <p:cNvPr id="11" name="Text 9"/>
          <p:cNvSpPr/>
          <p:nvPr/>
        </p:nvSpPr>
        <p:spPr>
          <a:xfrm>
            <a:off x="4800600" y="1097280"/>
            <a:ext cx="1874520" cy="457200"/>
          </a:xfrm>
          <a:prstGeom prst="rect">
            <a:avLst/>
          </a:prstGeom>
          <a:noFill/>
          <a:ln/>
        </p:spPr>
        <p:txBody>
          <a:bodyPr wrap="square" lIns="0" tIns="0" rIns="0" bIns="0" rtlCol="0" anchor="ctr"/>
          <a:lstStyle/>
          <a:p>
            <a:pPr marL="0" indent="0" algn="ctr">
              <a:buNone/>
            </a:pPr>
            <a:r>
              <a:rPr lang="en-US" sz="2800" b="1" dirty="0">
                <a:solidFill>
                  <a:srgbClr val="2B6CB0"/>
                </a:solidFill>
                <a:latin typeface="Georgia" pitchFamily="34" charset="0"/>
              </a:rPr>
              <a:t>6</a:t>
            </a:r>
            <a:endParaRPr lang="en-US" sz="2800" dirty="0"/>
          </a:p>
        </p:txBody>
      </p:sp>
      <p:sp>
        <p:nvSpPr>
          <p:cNvPr id="12" name="Text 10"/>
          <p:cNvSpPr/>
          <p:nvPr/>
        </p:nvSpPr>
        <p:spPr>
          <a:xfrm>
            <a:off x="4800600" y="1600200"/>
            <a:ext cx="1874520" cy="502920"/>
          </a:xfrm>
          <a:prstGeom prst="rect">
            <a:avLst/>
          </a:prstGeom>
          <a:noFill/>
          <a:ln/>
        </p:spPr>
        <p:txBody>
          <a:bodyPr wrap="square" lIns="0" tIns="0" rIns="0" bIns="0" rtlCol="0" anchor="ctr"/>
          <a:lstStyle/>
          <a:p>
            <a:pPr marL="0" indent="0" algn="ctr">
              <a:buNone/>
            </a:pPr>
            <a:r>
              <a:rPr lang="en-US" sz="1200" dirty="0">
                <a:solidFill>
                  <a:srgbClr val="4A5568"/>
                </a:solidFill>
                <a:latin typeface="Calibri" pitchFamily="34" charset="0"/>
                <a:ea typeface="Calibri" pitchFamily="34" charset="-122"/>
                <a:cs typeface="Calibri" pitchFamily="34" charset="-120"/>
              </a:rPr>
              <a:t>SAP FI/SD/MM</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Changes Live</a:t>
            </a:r>
            <a:endParaRPr lang="en-US" sz="1200" dirty="0"/>
          </a:p>
        </p:txBody>
      </p:sp>
      <p:sp>
        <p:nvSpPr>
          <p:cNvPr id="13" name="Shape 11"/>
          <p:cNvSpPr/>
          <p:nvPr/>
        </p:nvSpPr>
        <p:spPr>
          <a:xfrm>
            <a:off x="6903720" y="1012060"/>
            <a:ext cx="2057400" cy="1234440"/>
          </a:xfrm>
          <a:prstGeom prst="roundRect">
            <a:avLst>
              <a:gd name="adj" fmla="val 4444"/>
            </a:avLst>
          </a:prstGeom>
          <a:solidFill>
            <a:srgbClr val="F7F6F2"/>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n-US" dirty="0"/>
          </a:p>
        </p:txBody>
      </p:sp>
      <p:sp>
        <p:nvSpPr>
          <p:cNvPr id="14" name="Text 12"/>
          <p:cNvSpPr/>
          <p:nvPr/>
        </p:nvSpPr>
        <p:spPr>
          <a:xfrm>
            <a:off x="6995160" y="1097280"/>
            <a:ext cx="1874520" cy="457200"/>
          </a:xfrm>
          <a:prstGeom prst="rect">
            <a:avLst/>
          </a:prstGeom>
          <a:noFill/>
          <a:ln/>
        </p:spPr>
        <p:txBody>
          <a:bodyPr wrap="square" lIns="0" tIns="0" rIns="0" bIns="0" rtlCol="0" anchor="ctr"/>
          <a:lstStyle/>
          <a:p>
            <a:pPr marL="0" indent="0" algn="ctr">
              <a:buNone/>
            </a:pPr>
            <a:r>
              <a:rPr lang="en-US" sz="2800" b="1" dirty="0">
                <a:solidFill>
                  <a:srgbClr val="0B2344"/>
                </a:solidFill>
                <a:latin typeface="Georgia" pitchFamily="34" charset="0"/>
                <a:ea typeface="Georgia" pitchFamily="34" charset="-122"/>
                <a:cs typeface="Georgia" pitchFamily="34" charset="-120"/>
              </a:rPr>
              <a:t>38</a:t>
            </a:r>
            <a:endParaRPr lang="en-US" sz="2800" dirty="0"/>
          </a:p>
        </p:txBody>
      </p:sp>
      <p:sp>
        <p:nvSpPr>
          <p:cNvPr id="15" name="Text 13"/>
          <p:cNvSpPr/>
          <p:nvPr/>
        </p:nvSpPr>
        <p:spPr>
          <a:xfrm>
            <a:off x="6995160" y="1600200"/>
            <a:ext cx="1874520" cy="502920"/>
          </a:xfrm>
          <a:prstGeom prst="rect">
            <a:avLst/>
          </a:prstGeom>
          <a:noFill/>
          <a:ln/>
        </p:spPr>
        <p:txBody>
          <a:bodyPr wrap="square" lIns="0" tIns="0" rIns="0" bIns="0" rtlCol="0" anchor="ctr"/>
          <a:lstStyle/>
          <a:p>
            <a:pPr marL="0" indent="0" algn="ctr">
              <a:buNone/>
            </a:pPr>
            <a:r>
              <a:rPr lang="en-US" sz="1200" dirty="0">
                <a:solidFill>
                  <a:srgbClr val="4A5568"/>
                </a:solidFill>
                <a:latin typeface="Calibri" pitchFamily="34" charset="0"/>
                <a:ea typeface="Calibri" pitchFamily="34" charset="-122"/>
                <a:cs typeface="Calibri" pitchFamily="34" charset="-120"/>
              </a:rPr>
              <a:t>Incidents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Handled </a:t>
            </a:r>
            <a:br>
              <a:rPr lang="en-US" sz="1200" dirty="0">
                <a:solidFill>
                  <a:srgbClr val="4A5568"/>
                </a:solidFill>
                <a:latin typeface="Calibri" pitchFamily="34" charset="0"/>
                <a:ea typeface="Calibri" pitchFamily="34" charset="-122"/>
                <a:cs typeface="Calibri" pitchFamily="34" charset="-120"/>
              </a:rPr>
            </a:br>
            <a:r>
              <a:rPr lang="en-US" sz="1200" dirty="0">
                <a:solidFill>
                  <a:srgbClr val="4A5568"/>
                </a:solidFill>
                <a:latin typeface="Calibri" pitchFamily="34" charset="0"/>
                <a:ea typeface="Calibri" pitchFamily="34" charset="-122"/>
                <a:cs typeface="Calibri" pitchFamily="34" charset="-120"/>
              </a:rPr>
              <a:t>(15 Basis, 22 FI &amp; 1 SD)</a:t>
            </a:r>
            <a:endParaRPr lang="en-US" sz="1200" dirty="0"/>
          </a:p>
        </p:txBody>
      </p:sp>
      <p:sp>
        <p:nvSpPr>
          <p:cNvPr id="16" name="Text 14"/>
          <p:cNvSpPr/>
          <p:nvPr/>
        </p:nvSpPr>
        <p:spPr>
          <a:xfrm>
            <a:off x="320040" y="2468880"/>
            <a:ext cx="8503920" cy="274320"/>
          </a:xfrm>
          <a:prstGeom prst="rect">
            <a:avLst/>
          </a:prstGeom>
          <a:noFill/>
          <a:ln/>
        </p:spPr>
        <p:txBody>
          <a:bodyPr wrap="square" lIns="0" tIns="0" rIns="0" bIns="0" rtlCol="0" anchor="ctr"/>
          <a:lstStyle/>
          <a:p>
            <a:pPr marL="0" indent="0">
              <a:buNone/>
            </a:pPr>
            <a:r>
              <a:rPr lang="en-US" sz="1400" b="1" dirty="0">
                <a:solidFill>
                  <a:srgbClr val="0B2344"/>
                </a:solidFill>
                <a:latin typeface="Calibri" pitchFamily="34" charset="0"/>
                <a:ea typeface="Calibri" pitchFamily="34" charset="-122"/>
                <a:cs typeface="Calibri" pitchFamily="34" charset="-120"/>
              </a:rPr>
              <a:t>Report Contents</a:t>
            </a:r>
            <a:endParaRPr lang="en-US" sz="1400" dirty="0"/>
          </a:p>
        </p:txBody>
      </p:sp>
      <p:sp>
        <p:nvSpPr>
          <p:cNvPr id="17" name="Text 15"/>
          <p:cNvSpPr/>
          <p:nvPr/>
        </p:nvSpPr>
        <p:spPr>
          <a:xfrm>
            <a:off x="365760" y="2834640"/>
            <a:ext cx="457200" cy="292608"/>
          </a:xfrm>
          <a:prstGeom prst="rect">
            <a:avLst/>
          </a:prstGeom>
          <a:noFill/>
          <a:ln/>
        </p:spPr>
        <p:txBody>
          <a:bodyPr wrap="square" lIns="0" tIns="0" rIns="0" bIns="0" rtlCol="0" anchor="ctr"/>
          <a:lstStyle/>
          <a:p>
            <a:pPr marL="0" indent="0">
              <a:buNone/>
            </a:pPr>
            <a:r>
              <a:rPr lang="en-US" sz="1300" b="1" dirty="0">
                <a:solidFill>
                  <a:srgbClr val="B5935A"/>
                </a:solidFill>
                <a:latin typeface="Georgia" pitchFamily="34" charset="0"/>
                <a:ea typeface="Georgia" pitchFamily="34" charset="-122"/>
                <a:cs typeface="Georgia" pitchFamily="34" charset="-120"/>
              </a:rPr>
              <a:t>01</a:t>
            </a:r>
            <a:endParaRPr lang="en-US" sz="1300" dirty="0"/>
          </a:p>
        </p:txBody>
      </p:sp>
      <p:sp>
        <p:nvSpPr>
          <p:cNvPr id="18" name="Text 16"/>
          <p:cNvSpPr/>
          <p:nvPr/>
        </p:nvSpPr>
        <p:spPr>
          <a:xfrm>
            <a:off x="914400" y="2847080"/>
            <a:ext cx="3840480" cy="292608"/>
          </a:xfrm>
          <a:prstGeom prst="rect">
            <a:avLst/>
          </a:prstGeom>
          <a:noFill/>
          <a:ln/>
        </p:spPr>
        <p:txBody>
          <a:bodyPr wrap="square" lIns="0" tIns="0" rIns="0" bIns="0" rtlCol="0" anchor="ctr"/>
          <a:lstStyle/>
          <a:p>
            <a:pPr marL="0" indent="0">
              <a:buNone/>
            </a:pPr>
            <a:r>
              <a:rPr lang="en-US" sz="1300" b="1" dirty="0">
                <a:solidFill>
                  <a:srgbClr val="0B2344"/>
                </a:solidFill>
                <a:latin typeface="Calibri" pitchFamily="34" charset="0"/>
                <a:ea typeface="Calibri" pitchFamily="34" charset="-122"/>
                <a:cs typeface="Calibri" pitchFamily="34" charset="-120"/>
              </a:rPr>
              <a:t>Web Support – Completed</a:t>
            </a:r>
            <a:endParaRPr lang="en-US" sz="1300" dirty="0"/>
          </a:p>
        </p:txBody>
      </p:sp>
      <p:sp>
        <p:nvSpPr>
          <p:cNvPr id="19" name="Text 17"/>
          <p:cNvSpPr/>
          <p:nvPr/>
        </p:nvSpPr>
        <p:spPr>
          <a:xfrm>
            <a:off x="4846320" y="2834640"/>
            <a:ext cx="3931920" cy="292608"/>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Sales Module enhancements gone live</a:t>
            </a:r>
            <a:endParaRPr lang="en-US" sz="1200" dirty="0"/>
          </a:p>
        </p:txBody>
      </p:sp>
      <p:sp>
        <p:nvSpPr>
          <p:cNvPr id="20" name="Text 18"/>
          <p:cNvSpPr/>
          <p:nvPr/>
        </p:nvSpPr>
        <p:spPr>
          <a:xfrm>
            <a:off x="365760" y="3182112"/>
            <a:ext cx="457200" cy="292608"/>
          </a:xfrm>
          <a:prstGeom prst="rect">
            <a:avLst/>
          </a:prstGeom>
          <a:noFill/>
          <a:ln/>
        </p:spPr>
        <p:txBody>
          <a:bodyPr wrap="square" lIns="0" tIns="0" rIns="0" bIns="0" rtlCol="0" anchor="ctr"/>
          <a:lstStyle/>
          <a:p>
            <a:pPr marL="0" indent="0">
              <a:buNone/>
            </a:pPr>
            <a:r>
              <a:rPr lang="en-US" sz="1300" b="1" dirty="0">
                <a:solidFill>
                  <a:srgbClr val="B5935A"/>
                </a:solidFill>
                <a:latin typeface="Georgia" pitchFamily="34" charset="0"/>
                <a:ea typeface="Georgia" pitchFamily="34" charset="-122"/>
                <a:cs typeface="Georgia" pitchFamily="34" charset="-120"/>
              </a:rPr>
              <a:t>02</a:t>
            </a:r>
            <a:endParaRPr lang="en-US" sz="1300" dirty="0"/>
          </a:p>
        </p:txBody>
      </p:sp>
      <p:sp>
        <p:nvSpPr>
          <p:cNvPr id="21" name="Text 19"/>
          <p:cNvSpPr/>
          <p:nvPr/>
        </p:nvSpPr>
        <p:spPr>
          <a:xfrm>
            <a:off x="914400" y="3182112"/>
            <a:ext cx="3840480" cy="292608"/>
          </a:xfrm>
          <a:prstGeom prst="rect">
            <a:avLst/>
          </a:prstGeom>
          <a:noFill/>
          <a:ln/>
        </p:spPr>
        <p:txBody>
          <a:bodyPr wrap="square" lIns="0" tIns="0" rIns="0" bIns="0" rtlCol="0" anchor="ctr"/>
          <a:lstStyle/>
          <a:p>
            <a:pPr marL="0" indent="0">
              <a:buNone/>
            </a:pPr>
            <a:r>
              <a:rPr lang="en-US" sz="1300" b="1" dirty="0">
                <a:solidFill>
                  <a:srgbClr val="0B2344"/>
                </a:solidFill>
                <a:latin typeface="Calibri" pitchFamily="34" charset="0"/>
                <a:ea typeface="Calibri" pitchFamily="34" charset="-122"/>
                <a:cs typeface="Calibri" pitchFamily="34" charset="-120"/>
              </a:rPr>
              <a:t>Web Support – In Progress</a:t>
            </a:r>
            <a:endParaRPr lang="en-US" sz="1300" dirty="0"/>
          </a:p>
        </p:txBody>
      </p:sp>
      <p:sp>
        <p:nvSpPr>
          <p:cNvPr id="22" name="Text 20"/>
          <p:cNvSpPr/>
          <p:nvPr/>
        </p:nvSpPr>
        <p:spPr>
          <a:xfrm>
            <a:off x="4846320" y="3182112"/>
            <a:ext cx="3931920" cy="292608"/>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Trip Automation &amp; Vendor Bill Processing</a:t>
            </a:r>
            <a:endParaRPr lang="en-US" sz="1200" dirty="0"/>
          </a:p>
        </p:txBody>
      </p:sp>
      <p:sp>
        <p:nvSpPr>
          <p:cNvPr id="23" name="Text 21"/>
          <p:cNvSpPr/>
          <p:nvPr/>
        </p:nvSpPr>
        <p:spPr>
          <a:xfrm>
            <a:off x="365760" y="3529584"/>
            <a:ext cx="457200" cy="292608"/>
          </a:xfrm>
          <a:prstGeom prst="rect">
            <a:avLst/>
          </a:prstGeom>
          <a:noFill/>
          <a:ln/>
        </p:spPr>
        <p:txBody>
          <a:bodyPr wrap="square" lIns="0" tIns="0" rIns="0" bIns="0" rtlCol="0" anchor="ctr"/>
          <a:lstStyle/>
          <a:p>
            <a:pPr marL="0" indent="0">
              <a:buNone/>
            </a:pPr>
            <a:r>
              <a:rPr lang="en-US" sz="1300" b="1" dirty="0">
                <a:solidFill>
                  <a:srgbClr val="B5935A"/>
                </a:solidFill>
                <a:latin typeface="Georgia" pitchFamily="34" charset="0"/>
                <a:ea typeface="Georgia" pitchFamily="34" charset="-122"/>
                <a:cs typeface="Georgia" pitchFamily="34" charset="-120"/>
              </a:rPr>
              <a:t>03</a:t>
            </a:r>
            <a:endParaRPr lang="en-US" sz="1300" dirty="0"/>
          </a:p>
        </p:txBody>
      </p:sp>
      <p:sp>
        <p:nvSpPr>
          <p:cNvPr id="24" name="Text 22"/>
          <p:cNvSpPr/>
          <p:nvPr/>
        </p:nvSpPr>
        <p:spPr>
          <a:xfrm>
            <a:off x="914400" y="3529584"/>
            <a:ext cx="3840480" cy="292608"/>
          </a:xfrm>
          <a:prstGeom prst="rect">
            <a:avLst/>
          </a:prstGeom>
          <a:noFill/>
          <a:ln/>
        </p:spPr>
        <p:txBody>
          <a:bodyPr wrap="square" lIns="0" tIns="0" rIns="0" bIns="0" rtlCol="0" anchor="ctr"/>
          <a:lstStyle/>
          <a:p>
            <a:pPr marL="0" indent="0">
              <a:buNone/>
            </a:pPr>
            <a:r>
              <a:rPr lang="en-US" sz="1300" b="1" dirty="0">
                <a:solidFill>
                  <a:srgbClr val="0B2344"/>
                </a:solidFill>
                <a:latin typeface="Calibri" pitchFamily="34" charset="0"/>
                <a:ea typeface="Calibri" pitchFamily="34" charset="-122"/>
                <a:cs typeface="Calibri" pitchFamily="34" charset="-120"/>
              </a:rPr>
              <a:t>Web Support – Planned</a:t>
            </a:r>
            <a:endParaRPr lang="en-US" sz="1300" dirty="0"/>
          </a:p>
        </p:txBody>
      </p:sp>
      <p:sp>
        <p:nvSpPr>
          <p:cNvPr id="25" name="Text 23"/>
          <p:cNvSpPr/>
          <p:nvPr/>
        </p:nvSpPr>
        <p:spPr>
          <a:xfrm>
            <a:off x="4846320" y="3529584"/>
            <a:ext cx="3931920" cy="292608"/>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Invoice amount &amp; date rule improvements</a:t>
            </a:r>
            <a:endParaRPr lang="en-US" sz="1200" dirty="0"/>
          </a:p>
        </p:txBody>
      </p:sp>
      <p:sp>
        <p:nvSpPr>
          <p:cNvPr id="26" name="Text 24"/>
          <p:cNvSpPr/>
          <p:nvPr/>
        </p:nvSpPr>
        <p:spPr>
          <a:xfrm>
            <a:off x="365760" y="3877056"/>
            <a:ext cx="457200" cy="292608"/>
          </a:xfrm>
          <a:prstGeom prst="rect">
            <a:avLst/>
          </a:prstGeom>
          <a:noFill/>
          <a:ln/>
        </p:spPr>
        <p:txBody>
          <a:bodyPr wrap="square" lIns="0" tIns="0" rIns="0" bIns="0" rtlCol="0" anchor="ctr"/>
          <a:lstStyle/>
          <a:p>
            <a:pPr marL="0" indent="0">
              <a:buNone/>
            </a:pPr>
            <a:r>
              <a:rPr lang="en-US" sz="1300" b="1" dirty="0">
                <a:solidFill>
                  <a:srgbClr val="B5935A"/>
                </a:solidFill>
                <a:latin typeface="Georgia" pitchFamily="34" charset="0"/>
                <a:ea typeface="Georgia" pitchFamily="34" charset="-122"/>
                <a:cs typeface="Georgia" pitchFamily="34" charset="-120"/>
              </a:rPr>
              <a:t>04</a:t>
            </a:r>
            <a:endParaRPr lang="en-US" sz="1300" dirty="0"/>
          </a:p>
        </p:txBody>
      </p:sp>
      <p:sp>
        <p:nvSpPr>
          <p:cNvPr id="27" name="Text 25"/>
          <p:cNvSpPr/>
          <p:nvPr/>
        </p:nvSpPr>
        <p:spPr>
          <a:xfrm>
            <a:off x="914400" y="3877056"/>
            <a:ext cx="3840480" cy="292608"/>
          </a:xfrm>
          <a:prstGeom prst="rect">
            <a:avLst/>
          </a:prstGeom>
          <a:noFill/>
          <a:ln/>
        </p:spPr>
        <p:txBody>
          <a:bodyPr wrap="square" lIns="0" tIns="0" rIns="0" bIns="0" rtlCol="0" anchor="ctr"/>
          <a:lstStyle/>
          <a:p>
            <a:pPr marL="0" indent="0">
              <a:buNone/>
            </a:pPr>
            <a:r>
              <a:rPr lang="en-US" sz="1300" b="1" dirty="0">
                <a:solidFill>
                  <a:srgbClr val="0B2344"/>
                </a:solidFill>
                <a:latin typeface="Calibri" pitchFamily="34" charset="0"/>
                <a:ea typeface="Calibri" pitchFamily="34" charset="-122"/>
                <a:cs typeface="Calibri" pitchFamily="34" charset="-120"/>
              </a:rPr>
              <a:t>SAP Support – FI / MM / SD</a:t>
            </a:r>
            <a:endParaRPr lang="en-US" sz="1300" dirty="0"/>
          </a:p>
        </p:txBody>
      </p:sp>
      <p:sp>
        <p:nvSpPr>
          <p:cNvPr id="28" name="Text 26"/>
          <p:cNvSpPr/>
          <p:nvPr/>
        </p:nvSpPr>
        <p:spPr>
          <a:xfrm>
            <a:off x="4846320" y="3877056"/>
            <a:ext cx="3931920" cy="292608"/>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Plant, print, tax, GL &amp; sales automation</a:t>
            </a:r>
            <a:endParaRPr lang="en-US" sz="1200" dirty="0"/>
          </a:p>
        </p:txBody>
      </p:sp>
      <p:sp>
        <p:nvSpPr>
          <p:cNvPr id="29" name="Text 27"/>
          <p:cNvSpPr/>
          <p:nvPr/>
        </p:nvSpPr>
        <p:spPr>
          <a:xfrm>
            <a:off x="365760" y="4224528"/>
            <a:ext cx="457200" cy="292608"/>
          </a:xfrm>
          <a:prstGeom prst="rect">
            <a:avLst/>
          </a:prstGeom>
          <a:noFill/>
          <a:ln/>
        </p:spPr>
        <p:txBody>
          <a:bodyPr wrap="square" lIns="0" tIns="0" rIns="0" bIns="0" rtlCol="0" anchor="ctr"/>
          <a:lstStyle/>
          <a:p>
            <a:pPr marL="0" indent="0">
              <a:buNone/>
            </a:pPr>
            <a:r>
              <a:rPr lang="en-US" sz="1300" b="1" dirty="0">
                <a:solidFill>
                  <a:srgbClr val="B5935A"/>
                </a:solidFill>
                <a:latin typeface="Georgia" pitchFamily="34" charset="0"/>
                <a:ea typeface="Georgia" pitchFamily="34" charset="-122"/>
                <a:cs typeface="Georgia" pitchFamily="34" charset="-120"/>
              </a:rPr>
              <a:t>05</a:t>
            </a:r>
            <a:endParaRPr lang="en-US" sz="1300" dirty="0"/>
          </a:p>
        </p:txBody>
      </p:sp>
      <p:sp>
        <p:nvSpPr>
          <p:cNvPr id="30" name="Text 28"/>
          <p:cNvSpPr/>
          <p:nvPr/>
        </p:nvSpPr>
        <p:spPr>
          <a:xfrm>
            <a:off x="914400" y="4224528"/>
            <a:ext cx="3840480" cy="292608"/>
          </a:xfrm>
          <a:prstGeom prst="rect">
            <a:avLst/>
          </a:prstGeom>
          <a:noFill/>
          <a:ln/>
        </p:spPr>
        <p:txBody>
          <a:bodyPr wrap="square" lIns="0" tIns="0" rIns="0" bIns="0" rtlCol="0" anchor="ctr"/>
          <a:lstStyle/>
          <a:p>
            <a:pPr marL="0" indent="0">
              <a:buNone/>
            </a:pPr>
            <a:r>
              <a:rPr lang="en-US" sz="1300" b="1" dirty="0">
                <a:solidFill>
                  <a:srgbClr val="0B2344"/>
                </a:solidFill>
                <a:latin typeface="Calibri" pitchFamily="34" charset="0"/>
                <a:ea typeface="Calibri" pitchFamily="34" charset="-122"/>
                <a:cs typeface="Calibri" pitchFamily="34" charset="-120"/>
              </a:rPr>
              <a:t>Incident Summary</a:t>
            </a:r>
            <a:endParaRPr lang="en-US" sz="1300" dirty="0"/>
          </a:p>
        </p:txBody>
      </p:sp>
      <p:sp>
        <p:nvSpPr>
          <p:cNvPr id="31" name="Text 29"/>
          <p:cNvSpPr/>
          <p:nvPr/>
        </p:nvSpPr>
        <p:spPr>
          <a:xfrm>
            <a:off x="4846320" y="4224528"/>
            <a:ext cx="3931920" cy="292608"/>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38 tickets across Basis, FI and SD</a:t>
            </a:r>
            <a:endParaRPr lang="en-US" sz="1200" dirty="0"/>
          </a:p>
        </p:txBody>
      </p:sp>
      <p:sp>
        <p:nvSpPr>
          <p:cNvPr id="32" name="Shape 30"/>
          <p:cNvSpPr/>
          <p:nvPr/>
        </p:nvSpPr>
        <p:spPr>
          <a:xfrm>
            <a:off x="0" y="4828032"/>
            <a:ext cx="9144000" cy="310896"/>
          </a:xfrm>
          <a:prstGeom prst="rect">
            <a:avLst/>
          </a:prstGeom>
          <a:solidFill>
            <a:srgbClr val="0B2344"/>
          </a:solidFill>
          <a:ln w="12700">
            <a:solidFill>
              <a:srgbClr val="0B2344"/>
            </a:solidFill>
            <a:prstDash val="solid"/>
          </a:ln>
        </p:spPr>
        <p:txBody>
          <a:bodyPr/>
          <a:lstStyle/>
          <a:p>
            <a:endParaRPr lang="en-US" dirty="0"/>
          </a:p>
        </p:txBody>
      </p:sp>
      <p:sp>
        <p:nvSpPr>
          <p:cNvPr id="33" name="Text 31"/>
          <p:cNvSpPr/>
          <p:nvPr/>
        </p:nvSpPr>
        <p:spPr>
          <a:xfrm>
            <a:off x="274320" y="4828032"/>
            <a:ext cx="7132320" cy="310896"/>
          </a:xfrm>
          <a:prstGeom prst="rect">
            <a:avLst/>
          </a:prstGeom>
          <a:noFill/>
          <a:ln/>
        </p:spPr>
        <p:txBody>
          <a:bodyPr wrap="square" lIns="0" tIns="0" rIns="0" bIns="0" rtlCol="0" anchor="ctr"/>
          <a:lstStyle/>
          <a:p>
            <a:pPr marL="0" indent="0">
              <a:buNone/>
            </a:pPr>
            <a:r>
              <a:rPr lang="en-US" sz="800" dirty="0">
                <a:solidFill>
                  <a:srgbClr val="B5935A"/>
                </a:solidFill>
                <a:latin typeface="Calibri" pitchFamily="34" charset="0"/>
                <a:ea typeface="Calibri" pitchFamily="34" charset="-122"/>
                <a:cs typeface="Calibri" pitchFamily="34" charset="-120"/>
              </a:rPr>
              <a:t>Black Box  |  Application Support Report  |  Ultra Gas &amp; Greenline  |  October 2026</a:t>
            </a:r>
            <a:endParaRPr lang="en-US" sz="800" dirty="0"/>
          </a:p>
        </p:txBody>
      </p:sp>
      <p:sp>
        <p:nvSpPr>
          <p:cNvPr id="34" name="Text 32"/>
          <p:cNvSpPr/>
          <p:nvPr/>
        </p:nvSpPr>
        <p:spPr>
          <a:xfrm>
            <a:off x="7863840" y="4828032"/>
            <a:ext cx="1097280" cy="310896"/>
          </a:xfrm>
          <a:prstGeom prst="rect">
            <a:avLst/>
          </a:prstGeom>
          <a:noFill/>
          <a:ln/>
        </p:spPr>
        <p:txBody>
          <a:bodyPr wrap="square" lIns="0" tIns="0" rIns="0" bIns="0"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2 / 10</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0040" y="137160"/>
            <a:ext cx="8503920" cy="237744"/>
          </a:xfrm>
          <a:prstGeom prst="rect">
            <a:avLst/>
          </a:prstGeom>
          <a:noFill/>
          <a:ln/>
        </p:spPr>
        <p:txBody>
          <a:bodyPr wrap="square" lIns="0" tIns="0" rIns="0" bIns="0" rtlCol="0" anchor="ctr"/>
          <a:lstStyle/>
          <a:p>
            <a:pPr marL="0" indent="0">
              <a:buNone/>
            </a:pPr>
            <a:r>
              <a:rPr lang="en-US" sz="800" b="1" kern="0" spc="200" dirty="0">
                <a:solidFill>
                  <a:srgbClr val="B5935A"/>
                </a:solidFill>
                <a:latin typeface="Calibri" pitchFamily="34" charset="0"/>
                <a:ea typeface="Calibri" pitchFamily="34" charset="-122"/>
                <a:cs typeface="Calibri" pitchFamily="34" charset="-120"/>
              </a:rPr>
              <a:t>WEB SUPPORT  ·  COMPLETED</a:t>
            </a:r>
            <a:endParaRPr lang="en-US" sz="800" dirty="0"/>
          </a:p>
        </p:txBody>
      </p:sp>
      <p:sp>
        <p:nvSpPr>
          <p:cNvPr id="3" name="Text 1"/>
          <p:cNvSpPr/>
          <p:nvPr/>
        </p:nvSpPr>
        <p:spPr>
          <a:xfrm>
            <a:off x="320040" y="411480"/>
            <a:ext cx="8503920" cy="320040"/>
          </a:xfrm>
          <a:prstGeom prst="rect">
            <a:avLst/>
          </a:prstGeom>
          <a:noFill/>
          <a:ln/>
        </p:spPr>
        <p:txBody>
          <a:bodyPr wrap="square" lIns="0" tIns="0" rIns="0" bIns="0" rtlCol="0" anchor="ctr"/>
          <a:lstStyle/>
          <a:p>
            <a:pPr marL="0" indent="0">
              <a:buNone/>
            </a:pPr>
            <a:r>
              <a:rPr lang="en-US" sz="2000" b="1" dirty="0">
                <a:solidFill>
                  <a:srgbClr val="0B2344"/>
                </a:solidFill>
                <a:latin typeface="Georgia" pitchFamily="34" charset="0"/>
                <a:ea typeface="Georgia" pitchFamily="34" charset="-122"/>
                <a:cs typeface="Georgia" pitchFamily="34" charset="-120"/>
              </a:rPr>
              <a:t>SCM Automation – Sales Module Enhancements</a:t>
            </a:r>
            <a:endParaRPr lang="en-US" sz="2000" dirty="0"/>
          </a:p>
        </p:txBody>
      </p:sp>
      <p:sp>
        <p:nvSpPr>
          <p:cNvPr id="4" name="Text 2"/>
          <p:cNvSpPr/>
          <p:nvPr/>
        </p:nvSpPr>
        <p:spPr>
          <a:xfrm>
            <a:off x="320040" y="777240"/>
            <a:ext cx="8503920" cy="228600"/>
          </a:xfrm>
          <a:prstGeom prst="rect">
            <a:avLst/>
          </a:prstGeom>
          <a:noFill/>
          <a:ln/>
        </p:spPr>
        <p:txBody>
          <a:bodyPr wrap="square" lIns="0" tIns="0" rIns="0" bIns="0" rtlCol="0" anchor="ctr"/>
          <a:lstStyle/>
          <a:p>
            <a:pPr marL="0" indent="0">
              <a:buNone/>
            </a:pPr>
            <a:r>
              <a:rPr lang="en-US" sz="1300" b="1" dirty="0">
                <a:solidFill>
                  <a:srgbClr val="276749"/>
                </a:solidFill>
                <a:latin typeface="Calibri" pitchFamily="34" charset="0"/>
                <a:ea typeface="Calibri" pitchFamily="34" charset="-122"/>
                <a:cs typeface="Calibri" pitchFamily="34" charset="-120"/>
              </a:rPr>
              <a:t>Gone-Live on 17 October 2026</a:t>
            </a:r>
            <a:endParaRPr lang="en-US" sz="1300" dirty="0"/>
          </a:p>
        </p:txBody>
      </p:sp>
      <p:sp>
        <p:nvSpPr>
          <p:cNvPr id="5" name="Shape 3"/>
          <p:cNvSpPr/>
          <p:nvPr/>
        </p:nvSpPr>
        <p:spPr>
          <a:xfrm>
            <a:off x="274320" y="1143000"/>
            <a:ext cx="8595360" cy="1554480"/>
          </a:xfrm>
          <a:prstGeom prst="roundRect">
            <a:avLst>
              <a:gd name="adj" fmla="val 3529"/>
            </a:avLst>
          </a:prstGeom>
          <a:solidFill>
            <a:srgbClr val="F7F6F2"/>
          </a:solidFill>
          <a:ln w="12700">
            <a:solidFill>
              <a:srgbClr val="E2E8F0"/>
            </a:solidFill>
            <a:prstDash val="solid"/>
          </a:ln>
        </p:spPr>
        <p:txBody>
          <a:bodyPr/>
          <a:lstStyle/>
          <a:p>
            <a:endParaRPr lang="en-US"/>
          </a:p>
        </p:txBody>
      </p:sp>
      <p:sp>
        <p:nvSpPr>
          <p:cNvPr id="6" name="Shape 4"/>
          <p:cNvSpPr/>
          <p:nvPr/>
        </p:nvSpPr>
        <p:spPr>
          <a:xfrm>
            <a:off x="274320" y="1143000"/>
            <a:ext cx="91440" cy="1554480"/>
          </a:xfrm>
          <a:prstGeom prst="rect">
            <a:avLst/>
          </a:prstGeom>
          <a:solidFill>
            <a:srgbClr val="276749"/>
          </a:solidFill>
          <a:ln/>
        </p:spPr>
        <p:txBody>
          <a:bodyPr/>
          <a:lstStyle/>
          <a:p>
            <a:endParaRPr lang="en-US"/>
          </a:p>
        </p:txBody>
      </p:sp>
      <p:sp>
        <p:nvSpPr>
          <p:cNvPr id="7" name="Text 5"/>
          <p:cNvSpPr/>
          <p:nvPr/>
        </p:nvSpPr>
        <p:spPr>
          <a:xfrm>
            <a:off x="548640" y="1234440"/>
            <a:ext cx="8138160" cy="274320"/>
          </a:xfrm>
          <a:prstGeom prst="rect">
            <a:avLst/>
          </a:prstGeom>
          <a:noFill/>
          <a:ln/>
        </p:spPr>
        <p:txBody>
          <a:bodyPr wrap="square" lIns="0" tIns="0" rIns="0" bIns="0" rtlCol="0" anchor="ctr"/>
          <a:lstStyle/>
          <a:p>
            <a:pPr marL="0" indent="0">
              <a:buNone/>
            </a:pPr>
            <a:r>
              <a:rPr lang="en-US" sz="1400" b="1" dirty="0">
                <a:solidFill>
                  <a:srgbClr val="0B2344"/>
                </a:solidFill>
                <a:latin typeface="Calibri" pitchFamily="34" charset="0"/>
                <a:ea typeface="Calibri" pitchFamily="34" charset="-122"/>
                <a:cs typeface="Calibri" pitchFamily="34" charset="-120"/>
              </a:rPr>
              <a:t>Retail Sale SAP Posting — One Line per Weekly Group</a:t>
            </a:r>
            <a:endParaRPr lang="en-US" sz="1400" dirty="0"/>
          </a:p>
        </p:txBody>
      </p:sp>
      <p:sp>
        <p:nvSpPr>
          <p:cNvPr id="8" name="Text 6"/>
          <p:cNvSpPr/>
          <p:nvPr/>
        </p:nvSpPr>
        <p:spPr>
          <a:xfrm>
            <a:off x="548640" y="1554480"/>
            <a:ext cx="8138160" cy="100584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Previously, SAP received one line item per daily summary inside a weekly group (same plant, customers, rate – different quantities). Now daily summaries are consolidated into a single SAP line: quantity = sum of daily totals, rate = quantity-weighted average (or rate entered at post time). Header fields remain one order per post. Result: SAP receives the same commercial picture as the weekly group on screen, without duplicate material lines.</a:t>
            </a:r>
            <a:endParaRPr lang="en-US" sz="1200" dirty="0"/>
          </a:p>
        </p:txBody>
      </p:sp>
      <p:sp>
        <p:nvSpPr>
          <p:cNvPr id="9" name="Shape 7"/>
          <p:cNvSpPr/>
          <p:nvPr/>
        </p:nvSpPr>
        <p:spPr>
          <a:xfrm>
            <a:off x="274320" y="2880360"/>
            <a:ext cx="8595360" cy="1645920"/>
          </a:xfrm>
          <a:prstGeom prst="roundRect">
            <a:avLst>
              <a:gd name="adj" fmla="val 3333"/>
            </a:avLst>
          </a:prstGeom>
          <a:solidFill>
            <a:srgbClr val="F7F6F2"/>
          </a:solidFill>
          <a:ln w="12700">
            <a:solidFill>
              <a:srgbClr val="E2E8F0"/>
            </a:solidFill>
            <a:prstDash val="solid"/>
          </a:ln>
        </p:spPr>
        <p:txBody>
          <a:bodyPr/>
          <a:lstStyle/>
          <a:p>
            <a:endParaRPr lang="en-US"/>
          </a:p>
        </p:txBody>
      </p:sp>
      <p:sp>
        <p:nvSpPr>
          <p:cNvPr id="10" name="Shape 8"/>
          <p:cNvSpPr/>
          <p:nvPr/>
        </p:nvSpPr>
        <p:spPr>
          <a:xfrm>
            <a:off x="274320" y="2880360"/>
            <a:ext cx="91440" cy="1645920"/>
          </a:xfrm>
          <a:prstGeom prst="rect">
            <a:avLst/>
          </a:prstGeom>
          <a:solidFill>
            <a:srgbClr val="276749"/>
          </a:solidFill>
          <a:ln/>
        </p:spPr>
        <p:txBody>
          <a:bodyPr/>
          <a:lstStyle/>
          <a:p>
            <a:endParaRPr lang="en-US"/>
          </a:p>
        </p:txBody>
      </p:sp>
      <p:sp>
        <p:nvSpPr>
          <p:cNvPr id="11" name="Text 9"/>
          <p:cNvSpPr/>
          <p:nvPr/>
        </p:nvSpPr>
        <p:spPr>
          <a:xfrm>
            <a:off x="548640" y="2971800"/>
            <a:ext cx="8138160" cy="274320"/>
          </a:xfrm>
          <a:prstGeom prst="rect">
            <a:avLst/>
          </a:prstGeom>
          <a:noFill/>
          <a:ln/>
        </p:spPr>
        <p:txBody>
          <a:bodyPr wrap="square" lIns="0" tIns="0" rIns="0" bIns="0" rtlCol="0" anchor="ctr"/>
          <a:lstStyle/>
          <a:p>
            <a:pPr marL="0" indent="0">
              <a:buNone/>
            </a:pPr>
            <a:r>
              <a:rPr lang="en-US" sz="1400" b="1" dirty="0">
                <a:solidFill>
                  <a:srgbClr val="0B2344"/>
                </a:solidFill>
                <a:latin typeface="Calibri" pitchFamily="34" charset="0"/>
                <a:ea typeface="Calibri" pitchFamily="34" charset="-122"/>
                <a:cs typeface="Calibri" pitchFamily="34" charset="-120"/>
              </a:rPr>
              <a:t>Bulk Sale from JKT — Sale before Purchase Invoice</a:t>
            </a:r>
            <a:endParaRPr lang="en-US" sz="1400" dirty="0"/>
          </a:p>
        </p:txBody>
      </p:sp>
      <p:sp>
        <p:nvSpPr>
          <p:cNvPr id="12" name="Text 10"/>
          <p:cNvSpPr/>
          <p:nvPr/>
        </p:nvSpPr>
        <p:spPr>
          <a:xfrm>
            <a:off x="548640" y="3291840"/>
            <a:ext cx="8138160" cy="109728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Bulk sales can now be created from a JKT upload without waiting for a completed purchase invoice or PO. User selects plant &amp; storage location (RO), uploads/parses the JKT, and enters commercial fields. System creates bulk sale with InvoiceId empty, stores JKT number / vehicle, and can post to SAP using JKT as reference. When the same JKT is later processed in Invoice Workflow, the unlinked bulk sale is matched by JKT number and linked to that purchase invoice. Ship-To / Bill-To follow existing industrial RO customer mapping.</a:t>
            </a:r>
            <a:endParaRPr lang="en-US" sz="1200" dirty="0"/>
          </a:p>
        </p:txBody>
      </p:sp>
      <p:sp>
        <p:nvSpPr>
          <p:cNvPr id="13" name="Shape 11"/>
          <p:cNvSpPr/>
          <p:nvPr/>
        </p:nvSpPr>
        <p:spPr>
          <a:xfrm>
            <a:off x="0" y="4828032"/>
            <a:ext cx="9144000" cy="310896"/>
          </a:xfrm>
          <a:prstGeom prst="rect">
            <a:avLst/>
          </a:prstGeom>
          <a:solidFill>
            <a:srgbClr val="0B2344"/>
          </a:solidFill>
          <a:ln w="12700">
            <a:solidFill>
              <a:srgbClr val="0B2344"/>
            </a:solidFill>
            <a:prstDash val="solid"/>
          </a:ln>
        </p:spPr>
        <p:txBody>
          <a:bodyPr/>
          <a:lstStyle/>
          <a:p>
            <a:endParaRPr lang="en-US" dirty="0"/>
          </a:p>
        </p:txBody>
      </p:sp>
      <p:sp>
        <p:nvSpPr>
          <p:cNvPr id="14" name="Text 12"/>
          <p:cNvSpPr/>
          <p:nvPr/>
        </p:nvSpPr>
        <p:spPr>
          <a:xfrm>
            <a:off x="274320" y="4828032"/>
            <a:ext cx="7132320" cy="310896"/>
          </a:xfrm>
          <a:prstGeom prst="rect">
            <a:avLst/>
          </a:prstGeom>
          <a:noFill/>
          <a:ln/>
        </p:spPr>
        <p:txBody>
          <a:bodyPr wrap="square" lIns="0" tIns="0" rIns="0" bIns="0" rtlCol="0" anchor="ctr"/>
          <a:lstStyle/>
          <a:p>
            <a:pPr marL="0" indent="0">
              <a:buNone/>
            </a:pPr>
            <a:r>
              <a:rPr lang="en-US" sz="800" dirty="0">
                <a:solidFill>
                  <a:srgbClr val="B5935A"/>
                </a:solidFill>
                <a:latin typeface="Calibri" pitchFamily="34" charset="0"/>
                <a:ea typeface="Calibri" pitchFamily="34" charset="-122"/>
                <a:cs typeface="Calibri" pitchFamily="34" charset="-120"/>
              </a:rPr>
              <a:t>Black Box  |  Application Support Report  |  Ultra Gas &amp; Greenline  |  October 2026</a:t>
            </a:r>
            <a:endParaRPr lang="en-US" sz="800" dirty="0"/>
          </a:p>
        </p:txBody>
      </p:sp>
      <p:sp>
        <p:nvSpPr>
          <p:cNvPr id="15" name="Text 13"/>
          <p:cNvSpPr/>
          <p:nvPr/>
        </p:nvSpPr>
        <p:spPr>
          <a:xfrm>
            <a:off x="7863840" y="4828032"/>
            <a:ext cx="1097280" cy="310896"/>
          </a:xfrm>
          <a:prstGeom prst="rect">
            <a:avLst/>
          </a:prstGeom>
          <a:noFill/>
          <a:ln/>
        </p:spPr>
        <p:txBody>
          <a:bodyPr wrap="square" lIns="0" tIns="0" rIns="0" bIns="0"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3 / 10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0040" y="137160"/>
            <a:ext cx="8503920" cy="237744"/>
          </a:xfrm>
          <a:prstGeom prst="rect">
            <a:avLst/>
          </a:prstGeom>
          <a:noFill/>
          <a:ln/>
        </p:spPr>
        <p:txBody>
          <a:bodyPr wrap="square" lIns="0" tIns="0" rIns="0" bIns="0" rtlCol="0" anchor="ctr"/>
          <a:lstStyle/>
          <a:p>
            <a:pPr marL="0" indent="0">
              <a:buNone/>
            </a:pPr>
            <a:r>
              <a:rPr lang="en-US" sz="800" b="1" kern="0" spc="200" dirty="0">
                <a:solidFill>
                  <a:srgbClr val="B5935A"/>
                </a:solidFill>
                <a:latin typeface="Calibri" pitchFamily="34" charset="0"/>
                <a:ea typeface="Calibri" pitchFamily="34" charset="-122"/>
                <a:cs typeface="Calibri" pitchFamily="34" charset="-120"/>
              </a:rPr>
              <a:t>WEB SUPPORT  ·  IN PROGRESS</a:t>
            </a:r>
            <a:endParaRPr lang="en-US" sz="800" dirty="0"/>
          </a:p>
        </p:txBody>
      </p:sp>
      <p:sp>
        <p:nvSpPr>
          <p:cNvPr id="3" name="Text 1"/>
          <p:cNvSpPr/>
          <p:nvPr/>
        </p:nvSpPr>
        <p:spPr>
          <a:xfrm>
            <a:off x="320040" y="411480"/>
            <a:ext cx="8503920" cy="320040"/>
          </a:xfrm>
          <a:prstGeom prst="rect">
            <a:avLst/>
          </a:prstGeom>
          <a:noFill/>
          <a:ln/>
        </p:spPr>
        <p:txBody>
          <a:bodyPr wrap="square" lIns="0" tIns="0" rIns="0" bIns="0" rtlCol="0" anchor="ctr"/>
          <a:lstStyle/>
          <a:p>
            <a:pPr marL="0" indent="0">
              <a:buNone/>
            </a:pPr>
            <a:r>
              <a:rPr lang="en-US" sz="1800" b="1" dirty="0">
                <a:solidFill>
                  <a:srgbClr val="0B2344"/>
                </a:solidFill>
                <a:latin typeface="Georgia" pitchFamily="34" charset="0"/>
                <a:ea typeface="Georgia" pitchFamily="34" charset="-122"/>
                <a:cs typeface="Georgia" pitchFamily="34" charset="-120"/>
              </a:rPr>
              <a:t>Purchase Trip Automation &amp; WhatsApp Intake</a:t>
            </a:r>
            <a:endParaRPr lang="en-US" sz="1800" dirty="0"/>
          </a:p>
        </p:txBody>
      </p:sp>
      <p:sp>
        <p:nvSpPr>
          <p:cNvPr id="4" name="Text 2"/>
          <p:cNvSpPr/>
          <p:nvPr/>
        </p:nvSpPr>
        <p:spPr>
          <a:xfrm>
            <a:off x="320040" y="777240"/>
            <a:ext cx="8503920" cy="228600"/>
          </a:xfrm>
          <a:prstGeom prst="rect">
            <a:avLst/>
          </a:prstGeom>
          <a:noFill/>
          <a:ln/>
        </p:spPr>
        <p:txBody>
          <a:bodyPr wrap="square" lIns="0" tIns="0" rIns="0" bIns="0" rtlCol="0" anchor="ctr"/>
          <a:lstStyle/>
          <a:p>
            <a:pPr marL="0" indent="0">
              <a:buNone/>
            </a:pPr>
            <a:r>
              <a:rPr lang="en-US" sz="1200" b="1" dirty="0">
                <a:solidFill>
                  <a:srgbClr val="C05621"/>
                </a:solidFill>
                <a:latin typeface="Calibri" pitchFamily="34" charset="0"/>
                <a:ea typeface="Calibri" pitchFamily="34" charset="-122"/>
                <a:cs typeface="Calibri" pitchFamily="34" charset="-120"/>
              </a:rPr>
              <a:t>Phase 1 – Without direct WhatsApp integration (Simulator)  ·  UAT Pending</a:t>
            </a:r>
            <a:endParaRPr lang="en-US" sz="1200" dirty="0"/>
          </a:p>
        </p:txBody>
      </p:sp>
      <p:sp>
        <p:nvSpPr>
          <p:cNvPr id="5" name="Text 3"/>
          <p:cNvSpPr/>
          <p:nvPr/>
        </p:nvSpPr>
        <p:spPr>
          <a:xfrm>
            <a:off x="320040" y="1097280"/>
            <a:ext cx="8503920" cy="64008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Dedicated Trip Automation for LNG/fuel purchase trips: office creates trips → drivers submit documents on WhatsApp → system runs OCR/JKT extract → validates vehicle match → creates invoice → posts PO → GRN → Final Invoice to SAP. Optional Stage 2 sale plan (Retail / Bulk / Split) flows into Sales after posting.</a:t>
            </a:r>
            <a:endParaRPr lang="en-US" sz="1200" dirty="0"/>
          </a:p>
        </p:txBody>
      </p:sp>
      <p:sp>
        <p:nvSpPr>
          <p:cNvPr id="6" name="Text 4"/>
          <p:cNvSpPr/>
          <p:nvPr/>
        </p:nvSpPr>
        <p:spPr>
          <a:xfrm>
            <a:off x="320040" y="1828800"/>
            <a:ext cx="4114800" cy="256032"/>
          </a:xfrm>
          <a:prstGeom prst="rect">
            <a:avLst/>
          </a:prstGeom>
          <a:noFill/>
          <a:ln/>
        </p:spPr>
        <p:txBody>
          <a:bodyPr wrap="square" lIns="0" tIns="0" rIns="0" bIns="0" rtlCol="0" anchor="ctr"/>
          <a:lstStyle/>
          <a:p>
            <a:pPr marL="0" indent="0">
              <a:buNone/>
            </a:pPr>
            <a:r>
              <a:rPr lang="en-US" sz="1300" b="1" dirty="0">
                <a:solidFill>
                  <a:srgbClr val="0B2344"/>
                </a:solidFill>
                <a:latin typeface="Calibri" pitchFamily="34" charset="0"/>
                <a:ea typeface="Calibri" pitchFamily="34" charset="-122"/>
                <a:cs typeface="Calibri" pitchFamily="34" charset="-120"/>
              </a:rPr>
              <a:t>Key Business Benefits</a:t>
            </a:r>
            <a:endParaRPr lang="en-US" sz="1300" dirty="0"/>
          </a:p>
        </p:txBody>
      </p:sp>
      <p:sp>
        <p:nvSpPr>
          <p:cNvPr id="7" name="Text 5"/>
          <p:cNvSpPr/>
          <p:nvPr/>
        </p:nvSpPr>
        <p:spPr>
          <a:xfrm>
            <a:off x="320040" y="2148840"/>
            <a:ext cx="8503920" cy="59436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  End-to-end digital trip workflow (Daily Trips, Trip Tracking, Sales Stage tabs)</a:t>
            </a:r>
            <a:endParaRPr lang="en-US" sz="1200" dirty="0"/>
          </a:p>
          <a:p>
            <a:pPr marL="0" indent="0">
              <a:buNone/>
            </a:pPr>
            <a:r>
              <a:rPr lang="en-US" sz="1200" dirty="0">
                <a:solidFill>
                  <a:srgbClr val="1A202C"/>
                </a:solidFill>
                <a:latin typeface="Calibri" pitchFamily="34" charset="0"/>
                <a:ea typeface="Calibri" pitchFamily="34" charset="-122"/>
                <a:cs typeface="Calibri" pitchFamily="34" charset="-120"/>
              </a:rPr>
              <a:t>•  WhatsApp as driver channel: trip notify → open trips → Invoice → JKT → Unloading</a:t>
            </a:r>
            <a:endParaRPr lang="en-US" sz="1200" dirty="0"/>
          </a:p>
        </p:txBody>
      </p:sp>
      <p:sp>
        <p:nvSpPr>
          <p:cNvPr id="8" name="Shape 6"/>
          <p:cNvSpPr/>
          <p:nvPr/>
        </p:nvSpPr>
        <p:spPr>
          <a:xfrm>
            <a:off x="274320" y="2880360"/>
            <a:ext cx="8595360" cy="1600200"/>
          </a:xfrm>
          <a:prstGeom prst="roundRect">
            <a:avLst>
              <a:gd name="adj" fmla="val 3429"/>
            </a:avLst>
          </a:prstGeom>
          <a:solidFill>
            <a:srgbClr val="F7F6F2"/>
          </a:solidFill>
          <a:ln w="12700">
            <a:solidFill>
              <a:srgbClr val="E2E8F0"/>
            </a:solidFill>
            <a:prstDash val="solid"/>
          </a:ln>
        </p:spPr>
        <p:txBody>
          <a:bodyPr/>
          <a:lstStyle/>
          <a:p>
            <a:endParaRPr lang="en-US" dirty="0"/>
          </a:p>
        </p:txBody>
      </p:sp>
      <p:sp>
        <p:nvSpPr>
          <p:cNvPr id="9" name="Text 7"/>
          <p:cNvSpPr/>
          <p:nvPr/>
        </p:nvSpPr>
        <p:spPr>
          <a:xfrm>
            <a:off x="457200" y="3017520"/>
            <a:ext cx="8229600" cy="256032"/>
          </a:xfrm>
          <a:prstGeom prst="rect">
            <a:avLst/>
          </a:prstGeom>
          <a:noFill/>
          <a:ln/>
        </p:spPr>
        <p:txBody>
          <a:bodyPr wrap="square" lIns="0" tIns="0" rIns="0" bIns="0" rtlCol="0" anchor="ctr"/>
          <a:lstStyle/>
          <a:p>
            <a:pPr marL="0" indent="0">
              <a:buNone/>
            </a:pPr>
            <a:r>
              <a:rPr lang="en-US" sz="1300" b="1" dirty="0">
                <a:solidFill>
                  <a:srgbClr val="0B2344"/>
                </a:solidFill>
                <a:latin typeface="Calibri" pitchFamily="34" charset="0"/>
                <a:ea typeface="Calibri" pitchFamily="34" charset="-122"/>
                <a:cs typeface="Calibri" pitchFamily="34" charset="-120"/>
              </a:rPr>
              <a:t>Current Status</a:t>
            </a:r>
            <a:endParaRPr lang="en-US" sz="1300" dirty="0"/>
          </a:p>
        </p:txBody>
      </p:sp>
      <p:sp>
        <p:nvSpPr>
          <p:cNvPr id="10" name="Text 8"/>
          <p:cNvSpPr/>
          <p:nvPr/>
        </p:nvSpPr>
        <p:spPr>
          <a:xfrm>
            <a:off x="457200" y="3337560"/>
            <a:ext cx="8229600" cy="100584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 Core application workflow developed</a:t>
            </a:r>
            <a:endParaRPr lang="en-US" sz="1200" dirty="0"/>
          </a:p>
          <a:p>
            <a:pPr marL="0" indent="0">
              <a:buNone/>
            </a:pPr>
            <a:r>
              <a:rPr lang="en-US" sz="1200" dirty="0">
                <a:solidFill>
                  <a:srgbClr val="1A202C"/>
                </a:solidFill>
                <a:latin typeface="Calibri" pitchFamily="34" charset="0"/>
                <a:ea typeface="Calibri" pitchFamily="34" charset="-122"/>
                <a:cs typeface="Calibri" pitchFamily="34" charset="-120"/>
              </a:rPr>
              <a:t>• WhatsApp simulator available for testing (no live Meta/Gupshup required)</a:t>
            </a:r>
            <a:endParaRPr lang="en-US" sz="1200" dirty="0"/>
          </a:p>
          <a:p>
            <a:pPr marL="0" indent="0">
              <a:buNone/>
            </a:pPr>
            <a:r>
              <a:rPr lang="en-US" sz="1200" dirty="0">
                <a:solidFill>
                  <a:srgbClr val="1A202C"/>
                </a:solidFill>
                <a:latin typeface="Calibri" pitchFamily="34" charset="0"/>
                <a:ea typeface="Calibri" pitchFamily="34" charset="-122"/>
                <a:cs typeface="Calibri" pitchFamily="34" charset="-120"/>
              </a:rPr>
              <a:t>• Live Gupshup / WABA integration – discussion with Gupshup in progress for solution &amp; documentation</a:t>
            </a:r>
            <a:endParaRPr lang="en-US" sz="1200" dirty="0"/>
          </a:p>
          <a:p>
            <a:pPr marL="0" indent="0">
              <a:buNone/>
            </a:pPr>
            <a:r>
              <a:rPr lang="en-US" sz="1200" dirty="0">
                <a:solidFill>
                  <a:srgbClr val="1A202C"/>
                </a:solidFill>
                <a:latin typeface="Calibri" pitchFamily="34" charset="0"/>
                <a:ea typeface="Calibri" pitchFamily="34" charset="-122"/>
                <a:cs typeface="Calibri" pitchFamily="34" charset="-120"/>
              </a:rPr>
              <a:t>• Stage 2 SAP sales posting from trip remains manual via Sales screens after trip is Posted</a:t>
            </a:r>
            <a:endParaRPr lang="en-US" sz="1200" dirty="0"/>
          </a:p>
        </p:txBody>
      </p:sp>
      <p:sp>
        <p:nvSpPr>
          <p:cNvPr id="11" name="Shape 9"/>
          <p:cNvSpPr/>
          <p:nvPr/>
        </p:nvSpPr>
        <p:spPr>
          <a:xfrm>
            <a:off x="0" y="4828032"/>
            <a:ext cx="9144000" cy="310896"/>
          </a:xfrm>
          <a:prstGeom prst="rect">
            <a:avLst/>
          </a:prstGeom>
          <a:solidFill>
            <a:srgbClr val="0B2344"/>
          </a:solidFill>
          <a:ln w="12700">
            <a:solidFill>
              <a:srgbClr val="0B2344"/>
            </a:solidFill>
            <a:prstDash val="solid"/>
          </a:ln>
        </p:spPr>
        <p:txBody>
          <a:bodyPr/>
          <a:lstStyle/>
          <a:p>
            <a:endParaRPr lang="en-US"/>
          </a:p>
        </p:txBody>
      </p:sp>
      <p:sp>
        <p:nvSpPr>
          <p:cNvPr id="12" name="Text 10"/>
          <p:cNvSpPr/>
          <p:nvPr/>
        </p:nvSpPr>
        <p:spPr>
          <a:xfrm>
            <a:off x="274320" y="4828032"/>
            <a:ext cx="7132320" cy="310896"/>
          </a:xfrm>
          <a:prstGeom prst="rect">
            <a:avLst/>
          </a:prstGeom>
          <a:noFill/>
          <a:ln/>
        </p:spPr>
        <p:txBody>
          <a:bodyPr wrap="square" lIns="0" tIns="0" rIns="0" bIns="0" rtlCol="0" anchor="ctr"/>
          <a:lstStyle/>
          <a:p>
            <a:pPr marL="0" indent="0">
              <a:buNone/>
            </a:pPr>
            <a:r>
              <a:rPr lang="en-US" sz="800" dirty="0">
                <a:solidFill>
                  <a:srgbClr val="B5935A"/>
                </a:solidFill>
                <a:latin typeface="Calibri" pitchFamily="34" charset="0"/>
                <a:ea typeface="Calibri" pitchFamily="34" charset="-122"/>
                <a:cs typeface="Calibri" pitchFamily="34" charset="-120"/>
              </a:rPr>
              <a:t>Black Box  |  Application Support Report  |  Ultra Gas &amp; Greenline  |  October 2026</a:t>
            </a:r>
            <a:endParaRPr lang="en-US" sz="800" dirty="0"/>
          </a:p>
        </p:txBody>
      </p:sp>
      <p:sp>
        <p:nvSpPr>
          <p:cNvPr id="13" name="Text 11"/>
          <p:cNvSpPr/>
          <p:nvPr/>
        </p:nvSpPr>
        <p:spPr>
          <a:xfrm>
            <a:off x="7863840" y="4828032"/>
            <a:ext cx="1097280" cy="310896"/>
          </a:xfrm>
          <a:prstGeom prst="rect">
            <a:avLst/>
          </a:prstGeom>
          <a:noFill/>
          <a:ln/>
        </p:spPr>
        <p:txBody>
          <a:bodyPr wrap="square" lIns="0" tIns="0" rIns="0" bIns="0"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4 / 10</a:t>
            </a:r>
            <a:endParaRPr lang="en-US" sz="800" dirty="0"/>
          </a:p>
        </p:txBody>
      </p:sp>
      <p:sp>
        <p:nvSpPr>
          <p:cNvPr id="14" name="Star: 5 Points 13">
            <a:extLst>
              <a:ext uri="{FF2B5EF4-FFF2-40B4-BE49-F238E27FC236}">
                <a16:creationId xmlns:a16="http://schemas.microsoft.com/office/drawing/2014/main" id="{5C63BDDE-848D-77CF-B684-0E1DF06DA59F}"/>
              </a:ext>
            </a:extLst>
          </p:cNvPr>
          <p:cNvSpPr/>
          <p:nvPr/>
        </p:nvSpPr>
        <p:spPr>
          <a:xfrm>
            <a:off x="6857999" y="3016134"/>
            <a:ext cx="1551709" cy="1211580"/>
          </a:xfrm>
          <a:prstGeom prst="star5">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A619D7B2-8742-09E3-D022-A9E0012AB643}"/>
              </a:ext>
            </a:extLst>
          </p:cNvPr>
          <p:cNvSpPr txBox="1"/>
          <p:nvPr/>
        </p:nvSpPr>
        <p:spPr>
          <a:xfrm>
            <a:off x="7024255" y="3422074"/>
            <a:ext cx="1350819" cy="369332"/>
          </a:xfrm>
          <a:prstGeom prst="rect">
            <a:avLst/>
          </a:prstGeom>
          <a:noFill/>
        </p:spPr>
        <p:txBody>
          <a:bodyPr wrap="square" rtlCol="0">
            <a:spAutoFit/>
          </a:bodyPr>
          <a:lstStyle/>
          <a:p>
            <a:r>
              <a:rPr lang="en-US" sz="900" dirty="0"/>
              <a:t>Expected simulation live </a:t>
            </a:r>
            <a:br>
              <a:rPr lang="en-US" sz="900" dirty="0"/>
            </a:br>
            <a:r>
              <a:rPr lang="en-US" sz="900" dirty="0"/>
              <a:t>           on </a:t>
            </a:r>
            <a:r>
              <a:rPr lang="en-US" sz="900" b="1" dirty="0"/>
              <a:t>6</a:t>
            </a:r>
            <a:r>
              <a:rPr lang="en-US" sz="900" b="1" baseline="30000" dirty="0"/>
              <a:t>th</a:t>
            </a:r>
            <a:r>
              <a:rPr lang="en-US" sz="900" b="1" dirty="0"/>
              <a:t> Nov</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0040" y="137160"/>
            <a:ext cx="8503920" cy="237744"/>
          </a:xfrm>
          <a:prstGeom prst="rect">
            <a:avLst/>
          </a:prstGeom>
          <a:noFill/>
          <a:ln/>
        </p:spPr>
        <p:txBody>
          <a:bodyPr wrap="square" lIns="0" tIns="0" rIns="0" bIns="0" rtlCol="0" anchor="ctr"/>
          <a:lstStyle/>
          <a:p>
            <a:pPr marL="0" indent="0">
              <a:buNone/>
            </a:pPr>
            <a:r>
              <a:rPr lang="en-US" sz="800" b="1" kern="0" spc="200" dirty="0">
                <a:solidFill>
                  <a:srgbClr val="B5935A"/>
                </a:solidFill>
                <a:latin typeface="Calibri" pitchFamily="34" charset="0"/>
                <a:ea typeface="Calibri" pitchFamily="34" charset="-122"/>
                <a:cs typeface="Calibri" pitchFamily="34" charset="-120"/>
              </a:rPr>
              <a:t>WEB SUPPORT  ·  IN PROGRESS</a:t>
            </a:r>
            <a:endParaRPr lang="en-US" sz="800" dirty="0"/>
          </a:p>
        </p:txBody>
      </p:sp>
      <p:sp>
        <p:nvSpPr>
          <p:cNvPr id="3" name="Text 1"/>
          <p:cNvSpPr/>
          <p:nvPr/>
        </p:nvSpPr>
        <p:spPr>
          <a:xfrm>
            <a:off x="320040" y="411480"/>
            <a:ext cx="8503920" cy="320040"/>
          </a:xfrm>
          <a:prstGeom prst="rect">
            <a:avLst/>
          </a:prstGeom>
          <a:noFill/>
          <a:ln/>
        </p:spPr>
        <p:txBody>
          <a:bodyPr wrap="square" lIns="0" tIns="0" rIns="0" bIns="0" rtlCol="0" anchor="ctr"/>
          <a:lstStyle/>
          <a:p>
            <a:pPr marL="0" indent="0">
              <a:buNone/>
            </a:pPr>
            <a:r>
              <a:rPr lang="en-US" sz="1800" b="1" dirty="0">
                <a:solidFill>
                  <a:srgbClr val="0B2344"/>
                </a:solidFill>
                <a:latin typeface="Georgia" pitchFamily="34" charset="0"/>
                <a:ea typeface="Georgia" pitchFamily="34" charset="-122"/>
                <a:cs typeface="Georgia" pitchFamily="34" charset="-120"/>
              </a:rPr>
              <a:t>Vendor Bill Processing (Greenline Business) </a:t>
            </a:r>
            <a:endParaRPr lang="en-US" sz="1800" dirty="0"/>
          </a:p>
        </p:txBody>
      </p:sp>
      <p:sp>
        <p:nvSpPr>
          <p:cNvPr id="4" name="Text 2"/>
          <p:cNvSpPr/>
          <p:nvPr/>
        </p:nvSpPr>
        <p:spPr>
          <a:xfrm>
            <a:off x="320040" y="777240"/>
            <a:ext cx="8503920" cy="301752"/>
          </a:xfrm>
          <a:prstGeom prst="rect">
            <a:avLst/>
          </a:prstGeom>
          <a:noFill/>
          <a:ln/>
        </p:spPr>
        <p:txBody>
          <a:bodyPr wrap="square" lIns="0" tIns="0" rIns="0" bIns="0" rtlCol="0" anchor="ctr"/>
          <a:lstStyle/>
          <a:p>
            <a:pPr marL="0" indent="0">
              <a:buNone/>
            </a:pPr>
            <a:r>
              <a:rPr lang="en-US" sz="1200" b="1" dirty="0">
                <a:solidFill>
                  <a:srgbClr val="C05621"/>
                </a:solidFill>
                <a:latin typeface="Calibri" pitchFamily="34" charset="0"/>
                <a:ea typeface="Calibri" pitchFamily="34" charset="-122"/>
                <a:cs typeface="Calibri" pitchFamily="34" charset="-120"/>
              </a:rPr>
              <a:t>Phase 1 – With PO &amp; GRN integration  ·  SAP RFC received  ·  Web Integration In-Progress                                                  - SPOC Mr. Mehul</a:t>
            </a:r>
            <a:endParaRPr lang="en-US" sz="1200" dirty="0"/>
          </a:p>
        </p:txBody>
      </p:sp>
      <p:sp>
        <p:nvSpPr>
          <p:cNvPr id="5" name="Text 3"/>
          <p:cNvSpPr/>
          <p:nvPr/>
        </p:nvSpPr>
        <p:spPr>
          <a:xfrm>
            <a:off x="320040" y="1097280"/>
            <a:ext cx="8503920" cy="50292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Dedicated Vendor Bill Processing solution for Greenline to streamline vendor invoice management from submission through approval. Complete business workflow established; SAP RFC received; Web integration in progress.</a:t>
            </a:r>
            <a:endParaRPr lang="en-US" sz="1200" dirty="0"/>
          </a:p>
        </p:txBody>
      </p:sp>
      <p:sp>
        <p:nvSpPr>
          <p:cNvPr id="6" name="Text 4"/>
          <p:cNvSpPr/>
          <p:nvPr/>
        </p:nvSpPr>
        <p:spPr>
          <a:xfrm>
            <a:off x="320040" y="1737360"/>
            <a:ext cx="4206240" cy="32004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  End-to-end digital vendor invoice processing workflow</a:t>
            </a:r>
            <a:endParaRPr lang="en-US" sz="1200" dirty="0"/>
          </a:p>
        </p:txBody>
      </p:sp>
      <p:sp>
        <p:nvSpPr>
          <p:cNvPr id="7" name="Text 5"/>
          <p:cNvSpPr/>
          <p:nvPr/>
        </p:nvSpPr>
        <p:spPr>
          <a:xfrm>
            <a:off x="320040" y="2084832"/>
            <a:ext cx="4206240" cy="32004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  Full visibility of POs, GRs, invoiced qty &amp; remaining balances</a:t>
            </a:r>
            <a:endParaRPr lang="en-US" sz="1200" dirty="0"/>
          </a:p>
        </p:txBody>
      </p:sp>
      <p:sp>
        <p:nvSpPr>
          <p:cNvPr id="8" name="Text 6"/>
          <p:cNvSpPr/>
          <p:nvPr/>
        </p:nvSpPr>
        <p:spPr>
          <a:xfrm>
            <a:off x="320040" y="2432304"/>
            <a:ext cx="4206240" cy="32004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  Multiple vendor invoices against a single GR until qty exhausted</a:t>
            </a:r>
            <a:endParaRPr lang="en-US" sz="1200" dirty="0"/>
          </a:p>
        </p:txBody>
      </p:sp>
      <p:sp>
        <p:nvSpPr>
          <p:cNvPr id="9" name="Text 7"/>
          <p:cNvSpPr/>
          <p:nvPr/>
        </p:nvSpPr>
        <p:spPr>
          <a:xfrm>
            <a:off x="320040" y="2779776"/>
            <a:ext cx="4206240" cy="32004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  Automatic release of quantities when invoices are rejected</a:t>
            </a:r>
            <a:endParaRPr lang="en-US" sz="1200" dirty="0"/>
          </a:p>
        </p:txBody>
      </p:sp>
      <p:sp>
        <p:nvSpPr>
          <p:cNvPr id="10" name="Text 8"/>
          <p:cNvSpPr/>
          <p:nvPr/>
        </p:nvSpPr>
        <p:spPr>
          <a:xfrm>
            <a:off x="4709160" y="1737360"/>
            <a:ext cx="4206240" cy="32004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  Multi-level approval based on authority limits</a:t>
            </a:r>
            <a:endParaRPr lang="en-US" sz="1200" dirty="0"/>
          </a:p>
        </p:txBody>
      </p:sp>
      <p:sp>
        <p:nvSpPr>
          <p:cNvPr id="11" name="Text 9"/>
          <p:cNvSpPr/>
          <p:nvPr/>
        </p:nvSpPr>
        <p:spPr>
          <a:xfrm>
            <a:off x="4709160" y="2084832"/>
            <a:ext cx="4206240" cy="32004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  Automatic extraction of invoice details from uploaded documents</a:t>
            </a:r>
            <a:endParaRPr lang="en-US" sz="1200" dirty="0"/>
          </a:p>
        </p:txBody>
      </p:sp>
      <p:sp>
        <p:nvSpPr>
          <p:cNvPr id="12" name="Text 10"/>
          <p:cNvSpPr/>
          <p:nvPr/>
        </p:nvSpPr>
        <p:spPr>
          <a:xfrm>
            <a:off x="4709160" y="2432304"/>
            <a:ext cx="4206240" cy="32004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  Dedicated dashboards for tracking, approvals &amp; vendor management</a:t>
            </a:r>
            <a:endParaRPr lang="en-US" sz="1200" dirty="0"/>
          </a:p>
        </p:txBody>
      </p:sp>
      <p:sp>
        <p:nvSpPr>
          <p:cNvPr id="13" name="Text 11"/>
          <p:cNvSpPr/>
          <p:nvPr/>
        </p:nvSpPr>
        <p:spPr>
          <a:xfrm>
            <a:off x="4709160" y="2779776"/>
            <a:ext cx="4206240" cy="32004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  Improved access control – only authorized Greenline users</a:t>
            </a:r>
            <a:endParaRPr lang="en-US" sz="1200" dirty="0"/>
          </a:p>
        </p:txBody>
      </p:sp>
      <p:sp>
        <p:nvSpPr>
          <p:cNvPr id="14" name="Shape 12"/>
          <p:cNvSpPr/>
          <p:nvPr/>
        </p:nvSpPr>
        <p:spPr>
          <a:xfrm>
            <a:off x="274320" y="3246120"/>
            <a:ext cx="8595360" cy="1234440"/>
          </a:xfrm>
          <a:prstGeom prst="roundRect">
            <a:avLst>
              <a:gd name="adj" fmla="val 4444"/>
            </a:avLst>
          </a:prstGeom>
          <a:solidFill>
            <a:srgbClr val="F7F6F2"/>
          </a:solidFill>
          <a:ln w="12700">
            <a:solidFill>
              <a:srgbClr val="E2E8F0"/>
            </a:solidFill>
            <a:prstDash val="solid"/>
          </a:ln>
        </p:spPr>
        <p:txBody>
          <a:bodyPr/>
          <a:lstStyle/>
          <a:p>
            <a:endParaRPr lang="en-US"/>
          </a:p>
        </p:txBody>
      </p:sp>
      <p:sp>
        <p:nvSpPr>
          <p:cNvPr id="15" name="Text 13"/>
          <p:cNvSpPr/>
          <p:nvPr/>
        </p:nvSpPr>
        <p:spPr>
          <a:xfrm>
            <a:off x="457200" y="3337560"/>
            <a:ext cx="8229600" cy="228600"/>
          </a:xfrm>
          <a:prstGeom prst="rect">
            <a:avLst/>
          </a:prstGeom>
          <a:noFill/>
          <a:ln/>
        </p:spPr>
        <p:txBody>
          <a:bodyPr wrap="square" lIns="0" tIns="0" rIns="0" bIns="0" rtlCol="0" anchor="ctr"/>
          <a:lstStyle/>
          <a:p>
            <a:pPr marL="0" indent="0">
              <a:buNone/>
            </a:pPr>
            <a:r>
              <a:rPr lang="en-US" sz="1200" b="1" dirty="0">
                <a:solidFill>
                  <a:srgbClr val="0B2344"/>
                </a:solidFill>
                <a:latin typeface="Calibri" pitchFamily="34" charset="0"/>
                <a:ea typeface="Calibri" pitchFamily="34" charset="-122"/>
                <a:cs typeface="Calibri" pitchFamily="34" charset="-120"/>
              </a:rPr>
              <a:t>Current Status</a:t>
            </a:r>
            <a:endParaRPr lang="en-US" sz="1200" dirty="0"/>
          </a:p>
        </p:txBody>
      </p:sp>
      <p:sp>
        <p:nvSpPr>
          <p:cNvPr id="16" name="Text 14"/>
          <p:cNvSpPr/>
          <p:nvPr/>
        </p:nvSpPr>
        <p:spPr>
          <a:xfrm>
            <a:off x="457200" y="3611880"/>
            <a:ext cx="8229600" cy="73152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Complete business process &amp; application workflow developed and available for validation. Master data &amp; business structure prepared. SAP RFC integration for PO / GR under development. Vendor Invoice synchronization under development – to be enabled in subsequent release.</a:t>
            </a:r>
            <a:endParaRPr lang="en-US" sz="1200" dirty="0"/>
          </a:p>
        </p:txBody>
      </p:sp>
      <p:sp>
        <p:nvSpPr>
          <p:cNvPr id="17" name="Shape 15"/>
          <p:cNvSpPr/>
          <p:nvPr/>
        </p:nvSpPr>
        <p:spPr>
          <a:xfrm>
            <a:off x="0" y="4828032"/>
            <a:ext cx="9144000" cy="310896"/>
          </a:xfrm>
          <a:prstGeom prst="rect">
            <a:avLst/>
          </a:prstGeom>
          <a:solidFill>
            <a:srgbClr val="0B2344"/>
          </a:solidFill>
          <a:ln w="12700">
            <a:solidFill>
              <a:srgbClr val="0B2344"/>
            </a:solidFill>
            <a:prstDash val="solid"/>
          </a:ln>
        </p:spPr>
        <p:txBody>
          <a:bodyPr/>
          <a:lstStyle/>
          <a:p>
            <a:endParaRPr lang="en-US"/>
          </a:p>
        </p:txBody>
      </p:sp>
      <p:sp>
        <p:nvSpPr>
          <p:cNvPr id="18" name="Text 16"/>
          <p:cNvSpPr/>
          <p:nvPr/>
        </p:nvSpPr>
        <p:spPr>
          <a:xfrm>
            <a:off x="274320" y="4828032"/>
            <a:ext cx="7132320" cy="310896"/>
          </a:xfrm>
          <a:prstGeom prst="rect">
            <a:avLst/>
          </a:prstGeom>
          <a:noFill/>
          <a:ln/>
        </p:spPr>
        <p:txBody>
          <a:bodyPr wrap="square" lIns="0" tIns="0" rIns="0" bIns="0" rtlCol="0" anchor="ctr"/>
          <a:lstStyle/>
          <a:p>
            <a:pPr marL="0" indent="0">
              <a:buNone/>
            </a:pPr>
            <a:r>
              <a:rPr lang="en-US" sz="800" dirty="0">
                <a:solidFill>
                  <a:srgbClr val="B5935A"/>
                </a:solidFill>
                <a:latin typeface="Calibri" pitchFamily="34" charset="0"/>
                <a:ea typeface="Calibri" pitchFamily="34" charset="-122"/>
                <a:cs typeface="Calibri" pitchFamily="34" charset="-120"/>
              </a:rPr>
              <a:t>Black Box  |  Application Support Report  |  Ultra Gas &amp; Greenline  |  October 2026</a:t>
            </a:r>
            <a:endParaRPr lang="en-US" sz="800" dirty="0"/>
          </a:p>
        </p:txBody>
      </p:sp>
      <p:sp>
        <p:nvSpPr>
          <p:cNvPr id="19" name="Text 17"/>
          <p:cNvSpPr/>
          <p:nvPr/>
        </p:nvSpPr>
        <p:spPr>
          <a:xfrm>
            <a:off x="7863840" y="4828032"/>
            <a:ext cx="1097280" cy="310896"/>
          </a:xfrm>
          <a:prstGeom prst="rect">
            <a:avLst/>
          </a:prstGeom>
          <a:noFill/>
          <a:ln/>
        </p:spPr>
        <p:txBody>
          <a:bodyPr wrap="square" lIns="0" tIns="0" rIns="0" bIns="0"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5 / 10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0040" y="137160"/>
            <a:ext cx="8503920" cy="237744"/>
          </a:xfrm>
          <a:prstGeom prst="rect">
            <a:avLst/>
          </a:prstGeom>
          <a:noFill/>
          <a:ln/>
        </p:spPr>
        <p:txBody>
          <a:bodyPr wrap="square" lIns="0" tIns="0" rIns="0" bIns="0" rtlCol="0" anchor="ctr"/>
          <a:lstStyle/>
          <a:p>
            <a:pPr marL="0" indent="0">
              <a:buNone/>
            </a:pPr>
            <a:r>
              <a:rPr lang="en-US" sz="800" b="1" kern="0" spc="200" dirty="0">
                <a:solidFill>
                  <a:srgbClr val="B5935A"/>
                </a:solidFill>
                <a:latin typeface="Calibri" pitchFamily="34" charset="0"/>
                <a:ea typeface="Calibri" pitchFamily="34" charset="-122"/>
                <a:cs typeface="Calibri" pitchFamily="34" charset="-120"/>
              </a:rPr>
              <a:t>WEB PLANNED  ·  SAP SUPPORT FI / MM</a:t>
            </a:r>
            <a:endParaRPr lang="en-US" sz="800" dirty="0"/>
          </a:p>
        </p:txBody>
      </p:sp>
      <p:sp>
        <p:nvSpPr>
          <p:cNvPr id="3" name="Text 1"/>
          <p:cNvSpPr/>
          <p:nvPr/>
        </p:nvSpPr>
        <p:spPr>
          <a:xfrm>
            <a:off x="320040" y="411480"/>
            <a:ext cx="8503920" cy="320040"/>
          </a:xfrm>
          <a:prstGeom prst="rect">
            <a:avLst/>
          </a:prstGeom>
          <a:noFill/>
          <a:ln/>
        </p:spPr>
        <p:txBody>
          <a:bodyPr wrap="square" lIns="0" tIns="0" rIns="0" bIns="0" rtlCol="0" anchor="ctr"/>
          <a:lstStyle/>
          <a:p>
            <a:pPr marL="0" indent="0">
              <a:buNone/>
            </a:pPr>
            <a:r>
              <a:rPr lang="en-US" sz="1800" b="1" dirty="0">
                <a:solidFill>
                  <a:srgbClr val="0B2344"/>
                </a:solidFill>
                <a:latin typeface="Georgia" pitchFamily="34" charset="0"/>
                <a:ea typeface="Georgia" pitchFamily="34" charset="-122"/>
                <a:cs typeface="Georgia" pitchFamily="34" charset="-120"/>
              </a:rPr>
              <a:t>Planned Web Activities</a:t>
            </a:r>
            <a:endParaRPr lang="en-US" sz="1800" dirty="0"/>
          </a:p>
        </p:txBody>
      </p:sp>
      <p:sp>
        <p:nvSpPr>
          <p:cNvPr id="4" name="Shape 2"/>
          <p:cNvSpPr/>
          <p:nvPr/>
        </p:nvSpPr>
        <p:spPr>
          <a:xfrm>
            <a:off x="274320" y="914400"/>
            <a:ext cx="8595360" cy="1051560"/>
          </a:xfrm>
          <a:prstGeom prst="roundRect">
            <a:avLst>
              <a:gd name="adj" fmla="val 5217"/>
            </a:avLst>
          </a:prstGeom>
          <a:solidFill>
            <a:srgbClr val="F7F6F2"/>
          </a:solidFill>
          <a:ln w="12700">
            <a:solidFill>
              <a:srgbClr val="E2E8F0"/>
            </a:solidFill>
            <a:prstDash val="solid"/>
          </a:ln>
        </p:spPr>
        <p:txBody>
          <a:bodyPr/>
          <a:lstStyle/>
          <a:p>
            <a:endParaRPr lang="en-US"/>
          </a:p>
        </p:txBody>
      </p:sp>
      <p:sp>
        <p:nvSpPr>
          <p:cNvPr id="5" name="Text 3"/>
          <p:cNvSpPr/>
          <p:nvPr/>
        </p:nvSpPr>
        <p:spPr>
          <a:xfrm>
            <a:off x="457200" y="1005840"/>
            <a:ext cx="8229600" cy="228600"/>
          </a:xfrm>
          <a:prstGeom prst="rect">
            <a:avLst/>
          </a:prstGeom>
          <a:noFill/>
          <a:ln/>
        </p:spPr>
        <p:txBody>
          <a:bodyPr wrap="square" lIns="0" tIns="0" rIns="0" bIns="0" rtlCol="0" anchor="ctr"/>
          <a:lstStyle/>
          <a:p>
            <a:pPr marL="0" indent="0">
              <a:buNone/>
            </a:pPr>
            <a:r>
              <a:rPr lang="en-US" sz="1300" b="1" dirty="0">
                <a:solidFill>
                  <a:srgbClr val="0B2344"/>
                </a:solidFill>
                <a:latin typeface="Calibri" pitchFamily="34" charset="0"/>
                <a:ea typeface="Calibri" pitchFamily="34" charset="-122"/>
                <a:cs typeface="Calibri" pitchFamily="34" charset="-120"/>
              </a:rPr>
              <a:t>Web Support – Planned</a:t>
            </a:r>
            <a:endParaRPr lang="en-US" sz="1300" dirty="0"/>
          </a:p>
        </p:txBody>
      </p:sp>
      <p:sp>
        <p:nvSpPr>
          <p:cNvPr id="6" name="Text 4"/>
          <p:cNvSpPr/>
          <p:nvPr/>
        </p:nvSpPr>
        <p:spPr>
          <a:xfrm>
            <a:off x="457200" y="1280160"/>
            <a:ext cx="8229600" cy="594360"/>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 Invoice SAP amounts (“Inconsistent amounts”) — Align PO price / DelivCost with floor-to-rupee + freight worksheet</a:t>
            </a:r>
            <a:endParaRPr lang="en-US" sz="1200" dirty="0"/>
          </a:p>
          <a:p>
            <a:pPr marL="0" indent="0">
              <a:buNone/>
            </a:pPr>
            <a:r>
              <a:rPr lang="en-US" sz="1200" dirty="0">
                <a:solidFill>
                  <a:srgbClr val="1A202C"/>
                </a:solidFill>
                <a:latin typeface="Calibri" pitchFamily="34" charset="0"/>
                <a:ea typeface="Calibri" pitchFamily="34" charset="-122"/>
                <a:cs typeface="Calibri" pitchFamily="34" charset="-120"/>
              </a:rPr>
              <a:t>• Invoice date rules (config) — Configurable PO / GRN / Final relative date operators in appsettings (default GRN ≤ Invoice Date)</a:t>
            </a:r>
            <a:endParaRPr lang="en-US" sz="1200" dirty="0"/>
          </a:p>
        </p:txBody>
      </p:sp>
      <p:sp>
        <p:nvSpPr>
          <p:cNvPr id="18" name="Shape 16"/>
          <p:cNvSpPr/>
          <p:nvPr/>
        </p:nvSpPr>
        <p:spPr>
          <a:xfrm>
            <a:off x="0" y="4828032"/>
            <a:ext cx="9144000" cy="310896"/>
          </a:xfrm>
          <a:prstGeom prst="rect">
            <a:avLst/>
          </a:prstGeom>
          <a:solidFill>
            <a:srgbClr val="0B2344"/>
          </a:solidFill>
          <a:ln w="12700">
            <a:solidFill>
              <a:srgbClr val="0B2344"/>
            </a:solidFill>
            <a:prstDash val="solid"/>
          </a:ln>
        </p:spPr>
        <p:txBody>
          <a:bodyPr/>
          <a:lstStyle/>
          <a:p>
            <a:endParaRPr lang="en-US"/>
          </a:p>
        </p:txBody>
      </p:sp>
      <p:sp>
        <p:nvSpPr>
          <p:cNvPr id="19" name="Text 17"/>
          <p:cNvSpPr/>
          <p:nvPr/>
        </p:nvSpPr>
        <p:spPr>
          <a:xfrm>
            <a:off x="274320" y="4828032"/>
            <a:ext cx="7132320" cy="310896"/>
          </a:xfrm>
          <a:prstGeom prst="rect">
            <a:avLst/>
          </a:prstGeom>
          <a:noFill/>
          <a:ln/>
        </p:spPr>
        <p:txBody>
          <a:bodyPr wrap="square" lIns="0" tIns="0" rIns="0" bIns="0" rtlCol="0" anchor="ctr"/>
          <a:lstStyle/>
          <a:p>
            <a:pPr marL="0" indent="0">
              <a:buNone/>
            </a:pPr>
            <a:r>
              <a:rPr lang="en-US" sz="800" dirty="0">
                <a:solidFill>
                  <a:srgbClr val="B5935A"/>
                </a:solidFill>
                <a:latin typeface="Calibri" pitchFamily="34" charset="0"/>
                <a:ea typeface="Calibri" pitchFamily="34" charset="-122"/>
                <a:cs typeface="Calibri" pitchFamily="34" charset="-120"/>
              </a:rPr>
              <a:t>Black Box  |  Application Support Report  |  Ultra Gas &amp; Greenline  |  October 2026</a:t>
            </a:r>
            <a:endParaRPr lang="en-US" sz="800" dirty="0"/>
          </a:p>
        </p:txBody>
      </p:sp>
      <p:sp>
        <p:nvSpPr>
          <p:cNvPr id="20" name="Text 18"/>
          <p:cNvSpPr/>
          <p:nvPr/>
        </p:nvSpPr>
        <p:spPr>
          <a:xfrm>
            <a:off x="7863840" y="4828032"/>
            <a:ext cx="1097280" cy="310896"/>
          </a:xfrm>
          <a:prstGeom prst="rect">
            <a:avLst/>
          </a:prstGeom>
          <a:noFill/>
          <a:ln/>
        </p:spPr>
        <p:txBody>
          <a:bodyPr wrap="square" lIns="0" tIns="0" rIns="0" bIns="0"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6 / 10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0040" y="137160"/>
            <a:ext cx="8503920" cy="237744"/>
          </a:xfrm>
          <a:prstGeom prst="rect">
            <a:avLst/>
          </a:prstGeom>
          <a:noFill/>
          <a:ln/>
        </p:spPr>
        <p:txBody>
          <a:bodyPr wrap="square" lIns="0" tIns="0" rIns="0" bIns="0" rtlCol="0" anchor="ctr"/>
          <a:lstStyle/>
          <a:p>
            <a:pPr marL="0" indent="0">
              <a:buNone/>
            </a:pPr>
            <a:r>
              <a:rPr lang="en-US" sz="800" b="1" kern="0" spc="200" dirty="0">
                <a:solidFill>
                  <a:srgbClr val="B5935A"/>
                </a:solidFill>
                <a:latin typeface="Calibri" pitchFamily="34" charset="0"/>
                <a:ea typeface="Calibri" pitchFamily="34" charset="-122"/>
                <a:cs typeface="Calibri" pitchFamily="34" charset="-120"/>
              </a:rPr>
              <a:t>SAP SUPPORT  ·  SALES &amp; DISTRIBUTION</a:t>
            </a:r>
            <a:endParaRPr lang="en-US" sz="800" dirty="0"/>
          </a:p>
        </p:txBody>
      </p:sp>
      <p:sp>
        <p:nvSpPr>
          <p:cNvPr id="3" name="Text 1"/>
          <p:cNvSpPr/>
          <p:nvPr/>
        </p:nvSpPr>
        <p:spPr>
          <a:xfrm>
            <a:off x="320040" y="411480"/>
            <a:ext cx="8503920" cy="365760"/>
          </a:xfrm>
          <a:prstGeom prst="rect">
            <a:avLst/>
          </a:prstGeom>
          <a:noFill/>
          <a:ln/>
        </p:spPr>
        <p:txBody>
          <a:bodyPr wrap="square" lIns="0" tIns="0" rIns="0" bIns="0" rtlCol="0" anchor="ctr"/>
          <a:lstStyle/>
          <a:p>
            <a:pPr marL="0" indent="0">
              <a:buNone/>
            </a:pPr>
            <a:r>
              <a:rPr lang="en-US" sz="1800" b="1" dirty="0">
                <a:solidFill>
                  <a:srgbClr val="0B2344"/>
                </a:solidFill>
                <a:latin typeface="Georgia" pitchFamily="34" charset="0"/>
                <a:ea typeface="Georgia" pitchFamily="34" charset="-122"/>
                <a:cs typeface="Georgia" pitchFamily="34" charset="-120"/>
              </a:rPr>
              <a:t>SAP Support Activities Completed – SD (Ultra Gas)</a:t>
            </a:r>
            <a:endParaRPr lang="en-US" sz="1800" dirty="0"/>
          </a:p>
        </p:txBody>
      </p:sp>
      <p:sp>
        <p:nvSpPr>
          <p:cNvPr id="4" name="Shape 2"/>
          <p:cNvSpPr/>
          <p:nvPr/>
        </p:nvSpPr>
        <p:spPr>
          <a:xfrm>
            <a:off x="274320" y="1005840"/>
            <a:ext cx="8595360" cy="1554480"/>
          </a:xfrm>
          <a:prstGeom prst="roundRect">
            <a:avLst>
              <a:gd name="adj" fmla="val 3529"/>
            </a:avLst>
          </a:prstGeom>
          <a:solidFill>
            <a:srgbClr val="F7F6F2"/>
          </a:solidFill>
          <a:ln w="12700">
            <a:solidFill>
              <a:srgbClr val="E2E8F0"/>
            </a:solidFill>
            <a:prstDash val="solid"/>
          </a:ln>
        </p:spPr>
        <p:txBody>
          <a:bodyPr/>
          <a:lstStyle/>
          <a:p>
            <a:endParaRPr lang="en-US"/>
          </a:p>
        </p:txBody>
      </p:sp>
      <p:sp>
        <p:nvSpPr>
          <p:cNvPr id="5" name="Shape 3"/>
          <p:cNvSpPr/>
          <p:nvPr/>
        </p:nvSpPr>
        <p:spPr>
          <a:xfrm>
            <a:off x="274320" y="1005840"/>
            <a:ext cx="91440" cy="1554480"/>
          </a:xfrm>
          <a:prstGeom prst="rect">
            <a:avLst/>
          </a:prstGeom>
          <a:solidFill>
            <a:srgbClr val="2B6CB0"/>
          </a:solidFill>
          <a:ln/>
        </p:spPr>
        <p:txBody>
          <a:bodyPr/>
          <a:lstStyle/>
          <a:p>
            <a:endParaRPr lang="en-US"/>
          </a:p>
        </p:txBody>
      </p:sp>
      <p:sp>
        <p:nvSpPr>
          <p:cNvPr id="6" name="Text 4"/>
          <p:cNvSpPr/>
          <p:nvPr/>
        </p:nvSpPr>
        <p:spPr>
          <a:xfrm>
            <a:off x="548640" y="1097280"/>
            <a:ext cx="8138160" cy="274320"/>
          </a:xfrm>
          <a:prstGeom prst="rect">
            <a:avLst/>
          </a:prstGeom>
          <a:noFill/>
          <a:ln/>
        </p:spPr>
        <p:txBody>
          <a:bodyPr wrap="square" lIns="0" tIns="0" rIns="0" bIns="0" rtlCol="0" anchor="ctr"/>
          <a:lstStyle/>
          <a:p>
            <a:pPr marL="0" indent="0">
              <a:buNone/>
            </a:pPr>
            <a:r>
              <a:rPr lang="en-US" sz="1400" b="1" dirty="0">
                <a:solidFill>
                  <a:srgbClr val="0B2344"/>
                </a:solidFill>
                <a:latin typeface="Calibri" pitchFamily="34" charset="0"/>
                <a:ea typeface="Calibri" pitchFamily="34" charset="-122"/>
                <a:cs typeface="Calibri" pitchFamily="34" charset="-120"/>
              </a:rPr>
              <a:t>Sales to Invoice FM – Gross / Net Changes</a:t>
            </a:r>
            <a:endParaRPr lang="en-US" sz="1400" dirty="0"/>
          </a:p>
        </p:txBody>
      </p:sp>
      <p:sp>
        <p:nvSpPr>
          <p:cNvPr id="7" name="Text 5"/>
          <p:cNvSpPr/>
          <p:nvPr/>
        </p:nvSpPr>
        <p:spPr>
          <a:xfrm>
            <a:off x="548640" y="1417320"/>
            <a:ext cx="8138160" cy="1005840"/>
          </a:xfrm>
          <a:prstGeom prst="rect">
            <a:avLst/>
          </a:prstGeom>
          <a:noFill/>
          <a:ln/>
        </p:spPr>
        <p:txBody>
          <a:bodyPr wrap="square" lIns="0" tIns="0" rIns="0" bIns="0" rtlCol="0" anchor="ctr"/>
          <a:lstStyle/>
          <a:p>
            <a:pPr marL="0" indent="0">
              <a:buNone/>
            </a:pPr>
            <a:r>
              <a:rPr lang="en-US" sz="1300" dirty="0">
                <a:solidFill>
                  <a:srgbClr val="1A202C"/>
                </a:solidFill>
                <a:latin typeface="Calibri" pitchFamily="34" charset="0"/>
                <a:ea typeface="Calibri" pitchFamily="34" charset="-122"/>
                <a:cs typeface="Calibri" pitchFamily="34" charset="-120"/>
              </a:rPr>
              <a:t>As part of automating retail sales posting in SAP from data received from </a:t>
            </a:r>
            <a:r>
              <a:rPr lang="en-US" sz="1300" dirty="0" err="1">
                <a:solidFill>
                  <a:srgbClr val="1A202C"/>
                </a:solidFill>
                <a:latin typeface="Calibri" pitchFamily="34" charset="0"/>
                <a:ea typeface="Calibri" pitchFamily="34" charset="-122"/>
                <a:cs typeface="Calibri" pitchFamily="34" charset="-120"/>
              </a:rPr>
              <a:t>Indhan</a:t>
            </a:r>
            <a:r>
              <a:rPr lang="en-US" sz="1300" dirty="0">
                <a:solidFill>
                  <a:srgbClr val="1A202C"/>
                </a:solidFill>
                <a:latin typeface="Calibri" pitchFamily="34" charset="0"/>
                <a:ea typeface="Calibri" pitchFamily="34" charset="-122"/>
                <a:cs typeface="Calibri" pitchFamily="34" charset="-120"/>
              </a:rPr>
              <a:t>, an interface was developed. The interface picks data from the </a:t>
            </a:r>
            <a:r>
              <a:rPr lang="en-US" sz="1300" dirty="0" err="1">
                <a:solidFill>
                  <a:srgbClr val="1A202C"/>
                </a:solidFill>
                <a:latin typeface="Calibri" pitchFamily="34" charset="0"/>
                <a:ea typeface="Calibri" pitchFamily="34" charset="-122"/>
                <a:cs typeface="Calibri" pitchFamily="34" charset="-120"/>
              </a:rPr>
              <a:t>Indhan</a:t>
            </a:r>
            <a:r>
              <a:rPr lang="en-US" sz="1300" dirty="0">
                <a:solidFill>
                  <a:srgbClr val="1A202C"/>
                </a:solidFill>
                <a:latin typeface="Calibri" pitchFamily="34" charset="0"/>
                <a:ea typeface="Calibri" pitchFamily="34" charset="-122"/>
                <a:cs typeface="Calibri" pitchFamily="34" charset="-120"/>
              </a:rPr>
              <a:t> system and passes it to SAP to create the relevant Sales Order. Orders are created based on Customer &amp; Location of sales. The relevant RFC for creation of Sales Order was developed and moved to production.</a:t>
            </a:r>
            <a:endParaRPr lang="en-US" sz="1300" dirty="0"/>
          </a:p>
        </p:txBody>
      </p:sp>
      <p:sp>
        <p:nvSpPr>
          <p:cNvPr id="8" name="Shape 6"/>
          <p:cNvSpPr/>
          <p:nvPr/>
        </p:nvSpPr>
        <p:spPr>
          <a:xfrm>
            <a:off x="274320" y="2743200"/>
            <a:ext cx="8595360" cy="1737360"/>
          </a:xfrm>
          <a:prstGeom prst="roundRect">
            <a:avLst>
              <a:gd name="adj" fmla="val 3158"/>
            </a:avLst>
          </a:prstGeom>
          <a:solidFill>
            <a:srgbClr val="F7F6F2"/>
          </a:solidFill>
          <a:ln w="12700">
            <a:solidFill>
              <a:srgbClr val="E2E8F0"/>
            </a:solidFill>
            <a:prstDash val="solid"/>
          </a:ln>
        </p:spPr>
        <p:txBody>
          <a:bodyPr/>
          <a:lstStyle/>
          <a:p>
            <a:endParaRPr lang="en-US"/>
          </a:p>
        </p:txBody>
      </p:sp>
      <p:sp>
        <p:nvSpPr>
          <p:cNvPr id="9" name="Shape 7"/>
          <p:cNvSpPr/>
          <p:nvPr/>
        </p:nvSpPr>
        <p:spPr>
          <a:xfrm>
            <a:off x="274320" y="2743200"/>
            <a:ext cx="91440" cy="1737360"/>
          </a:xfrm>
          <a:prstGeom prst="rect">
            <a:avLst/>
          </a:prstGeom>
          <a:solidFill>
            <a:srgbClr val="2B6CB0"/>
          </a:solidFill>
          <a:ln/>
        </p:spPr>
        <p:txBody>
          <a:bodyPr/>
          <a:lstStyle/>
          <a:p>
            <a:endParaRPr lang="en-US"/>
          </a:p>
        </p:txBody>
      </p:sp>
      <p:sp>
        <p:nvSpPr>
          <p:cNvPr id="10" name="Text 8"/>
          <p:cNvSpPr/>
          <p:nvPr/>
        </p:nvSpPr>
        <p:spPr>
          <a:xfrm>
            <a:off x="548640" y="2834640"/>
            <a:ext cx="8138160" cy="274320"/>
          </a:xfrm>
          <a:prstGeom prst="rect">
            <a:avLst/>
          </a:prstGeom>
          <a:noFill/>
          <a:ln/>
        </p:spPr>
        <p:txBody>
          <a:bodyPr wrap="square" lIns="0" tIns="0" rIns="0" bIns="0" rtlCol="0" anchor="ctr"/>
          <a:lstStyle/>
          <a:p>
            <a:pPr marL="0" indent="0">
              <a:buNone/>
            </a:pPr>
            <a:r>
              <a:rPr lang="en-US" sz="1400" b="1" dirty="0">
                <a:solidFill>
                  <a:srgbClr val="0B2344"/>
                </a:solidFill>
                <a:latin typeface="Calibri" pitchFamily="34" charset="0"/>
                <a:ea typeface="Calibri" pitchFamily="34" charset="-122"/>
                <a:cs typeface="Calibri" pitchFamily="34" charset="-120"/>
              </a:rPr>
              <a:t>AR RFC Creation – UGTL Auto Invoice (Retail Sales Automation)</a:t>
            </a:r>
            <a:endParaRPr lang="en-US" sz="1400" dirty="0"/>
          </a:p>
        </p:txBody>
      </p:sp>
      <p:sp>
        <p:nvSpPr>
          <p:cNvPr id="11" name="Text 9"/>
          <p:cNvSpPr/>
          <p:nvPr/>
        </p:nvSpPr>
        <p:spPr>
          <a:xfrm>
            <a:off x="548640" y="3200400"/>
            <a:ext cx="8138160" cy="1097280"/>
          </a:xfrm>
          <a:prstGeom prst="rect">
            <a:avLst/>
          </a:prstGeom>
          <a:noFill/>
          <a:ln/>
        </p:spPr>
        <p:txBody>
          <a:bodyPr wrap="square" lIns="0" tIns="0" rIns="0" bIns="0" rtlCol="0" anchor="ctr"/>
          <a:lstStyle/>
          <a:p>
            <a:pPr marL="0" indent="0">
              <a:buNone/>
            </a:pPr>
            <a:r>
              <a:rPr lang="en-US" sz="1300" dirty="0">
                <a:solidFill>
                  <a:srgbClr val="1A202C"/>
                </a:solidFill>
                <a:latin typeface="Calibri" pitchFamily="34" charset="0"/>
                <a:ea typeface="Calibri" pitchFamily="34" charset="-122"/>
                <a:cs typeface="Calibri" pitchFamily="34" charset="-120"/>
              </a:rPr>
              <a:t>Business required automation of Sales Order creation for the Retail Sales Process for Ultra Gas Trading. Retail sales occur in the </a:t>
            </a:r>
            <a:r>
              <a:rPr lang="en-US" sz="1300" dirty="0" err="1">
                <a:solidFill>
                  <a:srgbClr val="1A202C"/>
                </a:solidFill>
                <a:latin typeface="Calibri" pitchFamily="34" charset="0"/>
                <a:ea typeface="Calibri" pitchFamily="34" charset="-122"/>
                <a:cs typeface="Calibri" pitchFamily="34" charset="-120"/>
              </a:rPr>
              <a:t>Indhan</a:t>
            </a:r>
            <a:r>
              <a:rPr lang="en-US" sz="1300" dirty="0">
                <a:solidFill>
                  <a:srgbClr val="1A202C"/>
                </a:solidFill>
                <a:latin typeface="Calibri" pitchFamily="34" charset="0"/>
                <a:ea typeface="Calibri" pitchFamily="34" charset="-122"/>
                <a:cs typeface="Calibri" pitchFamily="34" charset="-120"/>
              </a:rPr>
              <a:t> system, are picked up by the Web Portal, and summarized on a weekly basis by region &amp; customer. The consolidated line item is then passed to SAP for creation of the Sales Order. Relevant RFC and FM changes developed and moved to production.</a:t>
            </a:r>
            <a:endParaRPr lang="en-US" sz="1300" dirty="0"/>
          </a:p>
        </p:txBody>
      </p:sp>
      <p:sp>
        <p:nvSpPr>
          <p:cNvPr id="12" name="Shape 10"/>
          <p:cNvSpPr/>
          <p:nvPr/>
        </p:nvSpPr>
        <p:spPr>
          <a:xfrm>
            <a:off x="0" y="4828032"/>
            <a:ext cx="9144000" cy="310896"/>
          </a:xfrm>
          <a:prstGeom prst="rect">
            <a:avLst/>
          </a:prstGeom>
          <a:solidFill>
            <a:srgbClr val="0B2344"/>
          </a:solidFill>
          <a:ln w="12700">
            <a:solidFill>
              <a:srgbClr val="0B2344"/>
            </a:solidFill>
            <a:prstDash val="solid"/>
          </a:ln>
        </p:spPr>
        <p:txBody>
          <a:bodyPr/>
          <a:lstStyle/>
          <a:p>
            <a:endParaRPr lang="en-US"/>
          </a:p>
        </p:txBody>
      </p:sp>
      <p:sp>
        <p:nvSpPr>
          <p:cNvPr id="13" name="Text 11"/>
          <p:cNvSpPr/>
          <p:nvPr/>
        </p:nvSpPr>
        <p:spPr>
          <a:xfrm>
            <a:off x="274320" y="4828032"/>
            <a:ext cx="7132320" cy="310896"/>
          </a:xfrm>
          <a:prstGeom prst="rect">
            <a:avLst/>
          </a:prstGeom>
          <a:noFill/>
          <a:ln/>
        </p:spPr>
        <p:txBody>
          <a:bodyPr wrap="square" lIns="0" tIns="0" rIns="0" bIns="0" rtlCol="0" anchor="ctr"/>
          <a:lstStyle/>
          <a:p>
            <a:pPr marL="0" indent="0">
              <a:buNone/>
            </a:pPr>
            <a:r>
              <a:rPr lang="en-US" sz="800" dirty="0">
                <a:solidFill>
                  <a:srgbClr val="B5935A"/>
                </a:solidFill>
                <a:latin typeface="Calibri" pitchFamily="34" charset="0"/>
                <a:ea typeface="Calibri" pitchFamily="34" charset="-122"/>
                <a:cs typeface="Calibri" pitchFamily="34" charset="-120"/>
              </a:rPr>
              <a:t>Black Box  |  Application Support Report  |  Ultra Gas &amp; Greenline  |  October 2026</a:t>
            </a:r>
            <a:endParaRPr lang="en-US" sz="800" dirty="0"/>
          </a:p>
        </p:txBody>
      </p:sp>
      <p:sp>
        <p:nvSpPr>
          <p:cNvPr id="14" name="Text 12"/>
          <p:cNvSpPr/>
          <p:nvPr/>
        </p:nvSpPr>
        <p:spPr>
          <a:xfrm>
            <a:off x="7863840" y="4828032"/>
            <a:ext cx="1097280" cy="310896"/>
          </a:xfrm>
          <a:prstGeom prst="rect">
            <a:avLst/>
          </a:prstGeom>
          <a:noFill/>
          <a:ln/>
        </p:spPr>
        <p:txBody>
          <a:bodyPr wrap="square" lIns="0" tIns="0" rIns="0" bIns="0"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7 / 10</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55CD579-E6EB-0650-501A-EF1598A22A4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35B69A0-2334-9C66-2F78-686ACA1ADC8C}"/>
              </a:ext>
            </a:extLst>
          </p:cNvPr>
          <p:cNvSpPr/>
          <p:nvPr/>
        </p:nvSpPr>
        <p:spPr>
          <a:xfrm>
            <a:off x="320040" y="137160"/>
            <a:ext cx="8503920" cy="237744"/>
          </a:xfrm>
          <a:prstGeom prst="rect">
            <a:avLst/>
          </a:prstGeom>
          <a:noFill/>
          <a:ln/>
        </p:spPr>
        <p:txBody>
          <a:bodyPr wrap="square" lIns="0" tIns="0" rIns="0" bIns="0" rtlCol="0" anchor="ctr"/>
          <a:lstStyle/>
          <a:p>
            <a:pPr marL="0" indent="0">
              <a:buNone/>
            </a:pPr>
            <a:r>
              <a:rPr lang="en-US" sz="800" b="1" kern="0" spc="200" dirty="0">
                <a:solidFill>
                  <a:srgbClr val="B5935A"/>
                </a:solidFill>
                <a:latin typeface="Calibri" pitchFamily="34" charset="0"/>
                <a:ea typeface="Calibri" pitchFamily="34" charset="-122"/>
                <a:cs typeface="Calibri" pitchFamily="34" charset="-120"/>
              </a:rPr>
              <a:t>INCIDENT MANAGEMENT</a:t>
            </a:r>
            <a:endParaRPr lang="en-US" sz="800" dirty="0"/>
          </a:p>
        </p:txBody>
      </p:sp>
      <p:sp>
        <p:nvSpPr>
          <p:cNvPr id="3" name="Text 1">
            <a:extLst>
              <a:ext uri="{FF2B5EF4-FFF2-40B4-BE49-F238E27FC236}">
                <a16:creationId xmlns:a16="http://schemas.microsoft.com/office/drawing/2014/main" id="{5CFD16BF-9801-A1F7-C8C3-3E2F6881D695}"/>
              </a:ext>
            </a:extLst>
          </p:cNvPr>
          <p:cNvSpPr/>
          <p:nvPr/>
        </p:nvSpPr>
        <p:spPr>
          <a:xfrm>
            <a:off x="320040" y="411480"/>
            <a:ext cx="8503920" cy="365760"/>
          </a:xfrm>
          <a:prstGeom prst="rect">
            <a:avLst/>
          </a:prstGeom>
          <a:noFill/>
          <a:ln/>
        </p:spPr>
        <p:txBody>
          <a:bodyPr wrap="square" lIns="0" tIns="0" rIns="0" bIns="0" rtlCol="0" anchor="ctr"/>
          <a:lstStyle/>
          <a:p>
            <a:pPr marL="0" indent="0">
              <a:buNone/>
            </a:pPr>
            <a:r>
              <a:rPr lang="en-US" sz="1800" b="1" dirty="0">
                <a:solidFill>
                  <a:srgbClr val="0B2344"/>
                </a:solidFill>
                <a:latin typeface="Georgia" pitchFamily="34" charset="0"/>
                <a:ea typeface="Georgia" pitchFamily="34" charset="-122"/>
                <a:cs typeface="Georgia" pitchFamily="34" charset="-120"/>
              </a:rPr>
              <a:t>Completed Change Summary – Greenline &amp; Ultra Gas  |  Oct 2026</a:t>
            </a:r>
            <a:endParaRPr lang="en-US" sz="1800" dirty="0"/>
          </a:p>
        </p:txBody>
      </p:sp>
      <p:sp>
        <p:nvSpPr>
          <p:cNvPr id="5" name="Text 3">
            <a:extLst>
              <a:ext uri="{FF2B5EF4-FFF2-40B4-BE49-F238E27FC236}">
                <a16:creationId xmlns:a16="http://schemas.microsoft.com/office/drawing/2014/main" id="{20B0B2DC-B8FD-D113-6852-7B653A4C1523}"/>
              </a:ext>
            </a:extLst>
          </p:cNvPr>
          <p:cNvSpPr/>
          <p:nvPr/>
        </p:nvSpPr>
        <p:spPr>
          <a:xfrm>
            <a:off x="548640" y="1097280"/>
            <a:ext cx="1828800" cy="502920"/>
          </a:xfrm>
          <a:prstGeom prst="rect">
            <a:avLst/>
          </a:prstGeom>
          <a:noFill/>
          <a:ln/>
        </p:spPr>
        <p:txBody>
          <a:bodyPr wrap="square" lIns="0" tIns="0" rIns="0" bIns="0" rtlCol="0" anchor="ctr"/>
          <a:lstStyle/>
          <a:p>
            <a:pPr marL="0" indent="0" algn="ctr">
              <a:buNone/>
            </a:pPr>
            <a:endParaRPr lang="en-US" sz="2800" dirty="0"/>
          </a:p>
        </p:txBody>
      </p:sp>
      <p:sp>
        <p:nvSpPr>
          <p:cNvPr id="6" name="Text 4">
            <a:extLst>
              <a:ext uri="{FF2B5EF4-FFF2-40B4-BE49-F238E27FC236}">
                <a16:creationId xmlns:a16="http://schemas.microsoft.com/office/drawing/2014/main" id="{A677DB6E-A8A9-EB9C-D59B-2D501C07C651}"/>
              </a:ext>
            </a:extLst>
          </p:cNvPr>
          <p:cNvSpPr/>
          <p:nvPr/>
        </p:nvSpPr>
        <p:spPr>
          <a:xfrm>
            <a:off x="548640" y="1645920"/>
            <a:ext cx="1828800" cy="274320"/>
          </a:xfrm>
          <a:prstGeom prst="rect">
            <a:avLst/>
          </a:prstGeom>
          <a:noFill/>
          <a:ln/>
        </p:spPr>
        <p:txBody>
          <a:bodyPr wrap="square" lIns="0" tIns="0" rIns="0" bIns="0" rtlCol="0" anchor="ctr"/>
          <a:lstStyle/>
          <a:p>
            <a:pPr marL="0" indent="0" algn="ctr">
              <a:buNone/>
            </a:pPr>
            <a:endParaRPr lang="en-US" sz="1400" dirty="0"/>
          </a:p>
        </p:txBody>
      </p:sp>
      <p:sp>
        <p:nvSpPr>
          <p:cNvPr id="8" name="Text 6">
            <a:extLst>
              <a:ext uri="{FF2B5EF4-FFF2-40B4-BE49-F238E27FC236}">
                <a16:creationId xmlns:a16="http://schemas.microsoft.com/office/drawing/2014/main" id="{F6E5C37F-20FB-2FA7-C8FF-71746AB0B9A8}"/>
              </a:ext>
            </a:extLst>
          </p:cNvPr>
          <p:cNvSpPr/>
          <p:nvPr/>
        </p:nvSpPr>
        <p:spPr>
          <a:xfrm>
            <a:off x="2697480" y="1097280"/>
            <a:ext cx="1828800" cy="502920"/>
          </a:xfrm>
          <a:prstGeom prst="rect">
            <a:avLst/>
          </a:prstGeom>
          <a:noFill/>
          <a:ln/>
        </p:spPr>
        <p:txBody>
          <a:bodyPr wrap="square" lIns="0" tIns="0" rIns="0" bIns="0" rtlCol="0" anchor="ctr"/>
          <a:lstStyle/>
          <a:p>
            <a:pPr marL="0" indent="0" algn="ctr">
              <a:buNone/>
            </a:pPr>
            <a:endParaRPr lang="en-US" sz="2800" dirty="0"/>
          </a:p>
        </p:txBody>
      </p:sp>
      <p:sp>
        <p:nvSpPr>
          <p:cNvPr id="9" name="Text 7">
            <a:extLst>
              <a:ext uri="{FF2B5EF4-FFF2-40B4-BE49-F238E27FC236}">
                <a16:creationId xmlns:a16="http://schemas.microsoft.com/office/drawing/2014/main" id="{8C917FCF-D5C2-AF13-E202-CF2891E4F4ED}"/>
              </a:ext>
            </a:extLst>
          </p:cNvPr>
          <p:cNvSpPr/>
          <p:nvPr/>
        </p:nvSpPr>
        <p:spPr>
          <a:xfrm>
            <a:off x="2697480" y="1645920"/>
            <a:ext cx="1828800" cy="274320"/>
          </a:xfrm>
          <a:prstGeom prst="rect">
            <a:avLst/>
          </a:prstGeom>
          <a:noFill/>
          <a:ln/>
        </p:spPr>
        <p:txBody>
          <a:bodyPr wrap="square" lIns="0" tIns="0" rIns="0" bIns="0" rtlCol="0" anchor="ctr"/>
          <a:lstStyle/>
          <a:p>
            <a:pPr marL="0" indent="0" algn="ctr">
              <a:buNone/>
            </a:pPr>
            <a:endParaRPr lang="en-US" sz="1400" dirty="0"/>
          </a:p>
        </p:txBody>
      </p:sp>
      <p:sp>
        <p:nvSpPr>
          <p:cNvPr id="11" name="Text 9">
            <a:extLst>
              <a:ext uri="{FF2B5EF4-FFF2-40B4-BE49-F238E27FC236}">
                <a16:creationId xmlns:a16="http://schemas.microsoft.com/office/drawing/2014/main" id="{3093098C-75D7-CB3B-BA8F-606484F3E955}"/>
              </a:ext>
            </a:extLst>
          </p:cNvPr>
          <p:cNvSpPr/>
          <p:nvPr/>
        </p:nvSpPr>
        <p:spPr>
          <a:xfrm>
            <a:off x="4846320" y="1097280"/>
            <a:ext cx="1828800" cy="502920"/>
          </a:xfrm>
          <a:prstGeom prst="rect">
            <a:avLst/>
          </a:prstGeom>
          <a:noFill/>
          <a:ln/>
        </p:spPr>
        <p:txBody>
          <a:bodyPr wrap="square" lIns="0" tIns="0" rIns="0" bIns="0" rtlCol="0" anchor="ctr"/>
          <a:lstStyle/>
          <a:p>
            <a:pPr marL="0" indent="0" algn="ctr">
              <a:buNone/>
            </a:pPr>
            <a:endParaRPr lang="en-US" sz="2800" dirty="0"/>
          </a:p>
        </p:txBody>
      </p:sp>
      <p:sp>
        <p:nvSpPr>
          <p:cNvPr id="12" name="Text 10">
            <a:extLst>
              <a:ext uri="{FF2B5EF4-FFF2-40B4-BE49-F238E27FC236}">
                <a16:creationId xmlns:a16="http://schemas.microsoft.com/office/drawing/2014/main" id="{9D2C8446-CAEF-1897-E5AF-6B4842C45DB8}"/>
              </a:ext>
            </a:extLst>
          </p:cNvPr>
          <p:cNvSpPr/>
          <p:nvPr/>
        </p:nvSpPr>
        <p:spPr>
          <a:xfrm>
            <a:off x="4846320" y="1645920"/>
            <a:ext cx="1828800" cy="274320"/>
          </a:xfrm>
          <a:prstGeom prst="rect">
            <a:avLst/>
          </a:prstGeom>
          <a:noFill/>
          <a:ln/>
        </p:spPr>
        <p:txBody>
          <a:bodyPr wrap="square" lIns="0" tIns="0" rIns="0" bIns="0" rtlCol="0" anchor="ctr"/>
          <a:lstStyle/>
          <a:p>
            <a:pPr marL="0" indent="0" algn="ctr">
              <a:buNone/>
            </a:pPr>
            <a:endParaRPr lang="en-US" sz="1400" dirty="0"/>
          </a:p>
        </p:txBody>
      </p:sp>
      <p:sp>
        <p:nvSpPr>
          <p:cNvPr id="14" name="Text 12">
            <a:extLst>
              <a:ext uri="{FF2B5EF4-FFF2-40B4-BE49-F238E27FC236}">
                <a16:creationId xmlns:a16="http://schemas.microsoft.com/office/drawing/2014/main" id="{70114F23-E6D9-0D68-1129-EF2698878307}"/>
              </a:ext>
            </a:extLst>
          </p:cNvPr>
          <p:cNvSpPr/>
          <p:nvPr/>
        </p:nvSpPr>
        <p:spPr>
          <a:xfrm>
            <a:off x="6995160" y="1097280"/>
            <a:ext cx="1828800" cy="502920"/>
          </a:xfrm>
          <a:prstGeom prst="rect">
            <a:avLst/>
          </a:prstGeom>
          <a:noFill/>
          <a:ln/>
        </p:spPr>
        <p:txBody>
          <a:bodyPr wrap="square" lIns="0" tIns="0" rIns="0" bIns="0" rtlCol="0" anchor="ctr"/>
          <a:lstStyle/>
          <a:p>
            <a:pPr marL="0" indent="0" algn="ctr">
              <a:buNone/>
            </a:pPr>
            <a:endParaRPr lang="en-US" sz="2800" dirty="0"/>
          </a:p>
        </p:txBody>
      </p:sp>
      <p:sp>
        <p:nvSpPr>
          <p:cNvPr id="15" name="Text 13">
            <a:extLst>
              <a:ext uri="{FF2B5EF4-FFF2-40B4-BE49-F238E27FC236}">
                <a16:creationId xmlns:a16="http://schemas.microsoft.com/office/drawing/2014/main" id="{40117940-DA03-EF4C-1EDB-DDA6FD0717FE}"/>
              </a:ext>
            </a:extLst>
          </p:cNvPr>
          <p:cNvSpPr/>
          <p:nvPr/>
        </p:nvSpPr>
        <p:spPr>
          <a:xfrm>
            <a:off x="6995160" y="1645920"/>
            <a:ext cx="1828800" cy="274320"/>
          </a:xfrm>
          <a:prstGeom prst="rect">
            <a:avLst/>
          </a:prstGeom>
          <a:noFill/>
          <a:ln/>
        </p:spPr>
        <p:txBody>
          <a:bodyPr wrap="square" lIns="0" tIns="0" rIns="0" bIns="0" rtlCol="0" anchor="ctr"/>
          <a:lstStyle/>
          <a:p>
            <a:pPr marL="0" indent="0" algn="ctr">
              <a:buNone/>
            </a:pPr>
            <a:endParaRPr lang="en-US" sz="1400" dirty="0"/>
          </a:p>
        </p:txBody>
      </p:sp>
      <p:sp>
        <p:nvSpPr>
          <p:cNvPr id="18" name="Text 16">
            <a:extLst>
              <a:ext uri="{FF2B5EF4-FFF2-40B4-BE49-F238E27FC236}">
                <a16:creationId xmlns:a16="http://schemas.microsoft.com/office/drawing/2014/main" id="{2769359D-EBAC-76FA-863D-8365B6F1E2F5}"/>
              </a:ext>
            </a:extLst>
          </p:cNvPr>
          <p:cNvSpPr/>
          <p:nvPr/>
        </p:nvSpPr>
        <p:spPr>
          <a:xfrm>
            <a:off x="365760" y="2896433"/>
            <a:ext cx="4114800" cy="228600"/>
          </a:xfrm>
          <a:prstGeom prst="rect">
            <a:avLst/>
          </a:prstGeom>
          <a:noFill/>
          <a:ln/>
        </p:spPr>
        <p:txBody>
          <a:bodyPr wrap="square" lIns="0" tIns="0" rIns="0" bIns="0" rtlCol="0" anchor="ctr"/>
          <a:lstStyle/>
          <a:p>
            <a:pPr marL="0" indent="0">
              <a:buNone/>
            </a:pPr>
            <a:endParaRPr lang="en-US" sz="1100" dirty="0"/>
          </a:p>
        </p:txBody>
      </p:sp>
      <p:sp>
        <p:nvSpPr>
          <p:cNvPr id="20" name="Text 18">
            <a:extLst>
              <a:ext uri="{FF2B5EF4-FFF2-40B4-BE49-F238E27FC236}">
                <a16:creationId xmlns:a16="http://schemas.microsoft.com/office/drawing/2014/main" id="{2AA1787B-14E9-B073-B46F-C3928E6F2560}"/>
              </a:ext>
            </a:extLst>
          </p:cNvPr>
          <p:cNvSpPr/>
          <p:nvPr/>
        </p:nvSpPr>
        <p:spPr>
          <a:xfrm>
            <a:off x="365760" y="3364992"/>
            <a:ext cx="4114800" cy="228600"/>
          </a:xfrm>
          <a:prstGeom prst="rect">
            <a:avLst/>
          </a:prstGeom>
          <a:noFill/>
          <a:ln/>
        </p:spPr>
        <p:txBody>
          <a:bodyPr wrap="square" lIns="0" tIns="0" rIns="0" bIns="0" rtlCol="0" anchor="ctr"/>
          <a:lstStyle/>
          <a:p>
            <a:pPr marL="0" indent="0">
              <a:buNone/>
            </a:pPr>
            <a:endParaRPr lang="en-US" sz="1100" dirty="0"/>
          </a:p>
        </p:txBody>
      </p:sp>
      <p:sp>
        <p:nvSpPr>
          <p:cNvPr id="28" name="Text 26">
            <a:extLst>
              <a:ext uri="{FF2B5EF4-FFF2-40B4-BE49-F238E27FC236}">
                <a16:creationId xmlns:a16="http://schemas.microsoft.com/office/drawing/2014/main" id="{B358E46C-3E0C-91D4-6633-02B08C25A9EE}"/>
              </a:ext>
            </a:extLst>
          </p:cNvPr>
          <p:cNvSpPr/>
          <p:nvPr/>
        </p:nvSpPr>
        <p:spPr>
          <a:xfrm>
            <a:off x="368520" y="810491"/>
            <a:ext cx="8657716" cy="3734493"/>
          </a:xfrm>
          <a:prstGeom prst="rect">
            <a:avLst/>
          </a:prstGeom>
          <a:noFill/>
          <a:ln/>
        </p:spPr>
        <p:txBody>
          <a:bodyPr wrap="square" lIns="0" tIns="0" rIns="0" bIns="0" rtlCol="0" anchor="ctr"/>
          <a:lstStyle/>
          <a:p>
            <a:r>
              <a:rPr lang="en-US" sz="1100" dirty="0">
                <a:solidFill>
                  <a:srgbClr val="1A202C"/>
                </a:solidFill>
                <a:latin typeface="Calibri" pitchFamily="34" charset="0"/>
                <a:ea typeface="Calibri" pitchFamily="34" charset="-122"/>
                <a:cs typeface="Calibri" pitchFamily="34" charset="-120"/>
              </a:rPr>
              <a:t>• </a:t>
            </a:r>
            <a:r>
              <a:rPr lang="en-US" sz="1100" b="1" dirty="0">
                <a:solidFill>
                  <a:srgbClr val="1A202C"/>
                </a:solidFill>
                <a:latin typeface="Calibri" pitchFamily="34" charset="0"/>
                <a:ea typeface="Calibri" pitchFamily="34" charset="-122"/>
                <a:cs typeface="Calibri" pitchFamily="34" charset="-120"/>
              </a:rPr>
              <a:t>Special GL Mapping  (FI) </a:t>
            </a:r>
            <a:br>
              <a:rPr lang="en-US" sz="1100" dirty="0">
                <a:solidFill>
                  <a:srgbClr val="1A202C"/>
                </a:solidFill>
                <a:latin typeface="Calibri" pitchFamily="34" charset="0"/>
                <a:ea typeface="Calibri" pitchFamily="34" charset="-122"/>
                <a:cs typeface="Calibri" pitchFamily="34" charset="-120"/>
              </a:rPr>
            </a:br>
            <a:r>
              <a:rPr lang="en-US" sz="1100" dirty="0">
                <a:solidFill>
                  <a:srgbClr val="1A202C"/>
                </a:solidFill>
                <a:latin typeface="Calibri" pitchFamily="34" charset="0"/>
                <a:ea typeface="Calibri" pitchFamily="34" charset="-122"/>
                <a:cs typeface="Calibri" pitchFamily="34" charset="-120"/>
              </a:rPr>
              <a:t>	Configure a special GL code for GL account 16011001. A special GL Code O was configured for this requirement and moved to production to resolve the issue.</a:t>
            </a:r>
            <a:br>
              <a:rPr lang="en-US" sz="1100" dirty="0">
                <a:solidFill>
                  <a:srgbClr val="1A202C"/>
                </a:solidFill>
                <a:latin typeface="Calibri" pitchFamily="34" charset="0"/>
                <a:ea typeface="Calibri" pitchFamily="34" charset="-122"/>
                <a:cs typeface="Calibri" pitchFamily="34" charset="-120"/>
              </a:rPr>
            </a:br>
            <a:r>
              <a:rPr lang="en-US" sz="1100" dirty="0">
                <a:solidFill>
                  <a:srgbClr val="1A202C"/>
                </a:solidFill>
                <a:latin typeface="Calibri" pitchFamily="34" charset="0"/>
                <a:ea typeface="Calibri" pitchFamily="34" charset="-122"/>
                <a:cs typeface="Calibri" pitchFamily="34" charset="-120"/>
              </a:rPr>
              <a:t>• </a:t>
            </a:r>
            <a:r>
              <a:rPr lang="en-US" sz="1100" b="1" dirty="0">
                <a:solidFill>
                  <a:srgbClr val="1A202C"/>
                </a:solidFill>
                <a:latin typeface="Calibri" pitchFamily="34" charset="0"/>
                <a:ea typeface="Calibri" pitchFamily="34" charset="-122"/>
                <a:cs typeface="Calibri" pitchFamily="34" charset="-120"/>
              </a:rPr>
              <a:t>Multiple Upload Tax Codes (FI) </a:t>
            </a:r>
          </a:p>
          <a:p>
            <a:r>
              <a:rPr lang="en-US" sz="1100" dirty="0">
                <a:solidFill>
                  <a:srgbClr val="1A202C"/>
                </a:solidFill>
                <a:latin typeface="Calibri" pitchFamily="34" charset="0"/>
                <a:ea typeface="Calibri" pitchFamily="34" charset="-122"/>
                <a:cs typeface="Calibri" pitchFamily="34" charset="-120"/>
              </a:rPr>
              <a:t>	For upload of multiple invoice with proper tax codes, this configuration needed to be maintained. The same has been configured and upload of invoices where successfully carried out.</a:t>
            </a:r>
            <a:br>
              <a:rPr lang="en-US" sz="1100" dirty="0">
                <a:solidFill>
                  <a:srgbClr val="1A202C"/>
                </a:solidFill>
                <a:latin typeface="Calibri" pitchFamily="34" charset="0"/>
                <a:ea typeface="Calibri" pitchFamily="34" charset="-122"/>
                <a:cs typeface="Calibri" pitchFamily="34" charset="-120"/>
              </a:rPr>
            </a:br>
            <a:r>
              <a:rPr lang="en-US" sz="1100" dirty="0">
                <a:solidFill>
                  <a:srgbClr val="1A202C"/>
                </a:solidFill>
                <a:latin typeface="Calibri" pitchFamily="34" charset="0"/>
                <a:ea typeface="Calibri" pitchFamily="34" charset="-122"/>
                <a:cs typeface="Calibri" pitchFamily="34" charset="-120"/>
              </a:rPr>
              <a:t>• </a:t>
            </a:r>
            <a:r>
              <a:rPr lang="en-US" sz="1100" b="1" dirty="0">
                <a:solidFill>
                  <a:srgbClr val="1A202C"/>
                </a:solidFill>
                <a:latin typeface="Calibri" pitchFamily="34" charset="0"/>
                <a:ea typeface="Calibri" pitchFamily="34" charset="-122"/>
                <a:cs typeface="Calibri" pitchFamily="34" charset="-120"/>
              </a:rPr>
              <a:t>Retail Sales SAP enablement (SD)</a:t>
            </a:r>
          </a:p>
          <a:p>
            <a:r>
              <a:rPr lang="en-US" sz="1100" dirty="0">
                <a:solidFill>
                  <a:srgbClr val="1A202C"/>
                </a:solidFill>
                <a:latin typeface="Calibri" pitchFamily="34" charset="0"/>
                <a:ea typeface="Calibri" pitchFamily="34" charset="-122"/>
                <a:cs typeface="Calibri" pitchFamily="34" charset="-120"/>
              </a:rPr>
              <a:t>	Automate creation of Sales Order for Retail Sales Process for Ultra Gas Trading. The Retail sales happens in the EPIC system which is picked up by Web Portal and is summarized on a weekly basis by region &amp; customer. The consolidated line item is then passed on to SAP for creation of Sales Order.</a:t>
            </a:r>
            <a:br>
              <a:rPr lang="en-US" sz="1100" dirty="0">
                <a:solidFill>
                  <a:srgbClr val="1A202C"/>
                </a:solidFill>
                <a:latin typeface="Calibri" pitchFamily="34" charset="0"/>
                <a:ea typeface="Calibri" pitchFamily="34" charset="-122"/>
                <a:cs typeface="Calibri" pitchFamily="34" charset="-120"/>
              </a:rPr>
            </a:br>
            <a:r>
              <a:rPr lang="en-US" sz="1100" dirty="0">
                <a:solidFill>
                  <a:srgbClr val="1A202C"/>
                </a:solidFill>
                <a:latin typeface="Calibri" pitchFamily="34" charset="0"/>
                <a:ea typeface="Calibri" pitchFamily="34" charset="-122"/>
                <a:cs typeface="Calibri" pitchFamily="34" charset="-120"/>
              </a:rPr>
              <a:t>• </a:t>
            </a:r>
            <a:r>
              <a:rPr lang="en-US" sz="1100" b="1" dirty="0">
                <a:solidFill>
                  <a:srgbClr val="1A202C"/>
                </a:solidFill>
                <a:latin typeface="Calibri" pitchFamily="34" charset="0"/>
                <a:ea typeface="Calibri" pitchFamily="34" charset="-122"/>
                <a:cs typeface="Calibri" pitchFamily="34" charset="-120"/>
              </a:rPr>
              <a:t>Plant name change (MM)</a:t>
            </a:r>
          </a:p>
          <a:p>
            <a:r>
              <a:rPr lang="en-US" sz="1100" dirty="0">
                <a:solidFill>
                  <a:srgbClr val="1A202C"/>
                </a:solidFill>
                <a:latin typeface="Calibri" pitchFamily="34" charset="0"/>
                <a:ea typeface="Calibri" pitchFamily="34" charset="-122"/>
                <a:cs typeface="Calibri" pitchFamily="34" charset="-120"/>
              </a:rPr>
              <a:t>	Change the name of the plant R027 &amp; T027 from Angul to Salaya. The same has been changed in both SAP &amp; Web system and moved to production.</a:t>
            </a:r>
          </a:p>
          <a:p>
            <a:r>
              <a:rPr lang="en-US" sz="1100" dirty="0">
                <a:solidFill>
                  <a:srgbClr val="1A202C"/>
                </a:solidFill>
                <a:latin typeface="Calibri" pitchFamily="34" charset="0"/>
                <a:ea typeface="Calibri" pitchFamily="34" charset="-122"/>
                <a:cs typeface="Calibri" pitchFamily="34" charset="-120"/>
              </a:rPr>
              <a:t>• </a:t>
            </a:r>
            <a:r>
              <a:rPr lang="en-US" sz="1100" b="1" dirty="0"/>
              <a:t>PO print display to print DRAFT watermark if not completely released (MM)</a:t>
            </a:r>
          </a:p>
          <a:p>
            <a:r>
              <a:rPr lang="en-US" sz="1100" dirty="0"/>
              <a:t>	Purchase Order print out only to appear post complete released. Till the time the Purchase Order is not released completely, it should print DRAFT as a watermark. This avoids the incorrect / incomplete Purchase Order being transmitted / issued to Vendor. The changes have been developed and moved to Production.</a:t>
            </a:r>
          </a:p>
          <a:p>
            <a:r>
              <a:rPr lang="en-US" sz="1100" dirty="0">
                <a:solidFill>
                  <a:srgbClr val="1A202C"/>
                </a:solidFill>
                <a:latin typeface="Calibri" pitchFamily="34" charset="0"/>
                <a:ea typeface="Calibri" pitchFamily="34" charset="-122"/>
                <a:cs typeface="Calibri" pitchFamily="34" charset="-120"/>
              </a:rPr>
              <a:t>• </a:t>
            </a:r>
            <a:r>
              <a:rPr lang="en-US" sz="1100" b="1" dirty="0">
                <a:solidFill>
                  <a:srgbClr val="1A202C"/>
                </a:solidFill>
                <a:latin typeface="Calibri" pitchFamily="34" charset="0"/>
                <a:ea typeface="Calibri" pitchFamily="34" charset="-122"/>
                <a:cs typeface="Calibri" pitchFamily="34" charset="-120"/>
              </a:rPr>
              <a:t>New Plant rollout for Ultra Gas Trading (MM)</a:t>
            </a:r>
          </a:p>
          <a:p>
            <a:r>
              <a:rPr lang="en-US" sz="1100" dirty="0">
                <a:solidFill>
                  <a:srgbClr val="1A202C"/>
                </a:solidFill>
                <a:latin typeface="Calibri" pitchFamily="34" charset="0"/>
                <a:ea typeface="Calibri" pitchFamily="34" charset="-122"/>
                <a:cs typeface="Calibri" pitchFamily="34" charset="-120"/>
              </a:rPr>
              <a:t>	A new location </a:t>
            </a:r>
            <a:r>
              <a:rPr lang="en-US" sz="1100" dirty="0" err="1">
                <a:solidFill>
                  <a:srgbClr val="1A202C"/>
                </a:solidFill>
                <a:latin typeface="Calibri" pitchFamily="34" charset="0"/>
                <a:ea typeface="Calibri" pitchFamily="34" charset="-122"/>
                <a:cs typeface="Calibri" pitchFamily="34" charset="-120"/>
              </a:rPr>
              <a:t>Savroli</a:t>
            </a:r>
            <a:r>
              <a:rPr lang="en-US" sz="1100" dirty="0">
                <a:solidFill>
                  <a:srgbClr val="1A202C"/>
                </a:solidFill>
                <a:latin typeface="Calibri" pitchFamily="34" charset="0"/>
                <a:ea typeface="Calibri" pitchFamily="34" charset="-122"/>
                <a:cs typeface="Calibri" pitchFamily="34" charset="-120"/>
              </a:rPr>
              <a:t> has been incorporated by the company in Maharashtra State. This plant has bee configured under T907 and moved to production both in SAP and Web system.</a:t>
            </a:r>
            <a:endParaRPr lang="en-US" sz="1100" dirty="0"/>
          </a:p>
        </p:txBody>
      </p:sp>
      <p:sp>
        <p:nvSpPr>
          <p:cNvPr id="32" name="Shape 30">
            <a:extLst>
              <a:ext uri="{FF2B5EF4-FFF2-40B4-BE49-F238E27FC236}">
                <a16:creationId xmlns:a16="http://schemas.microsoft.com/office/drawing/2014/main" id="{F06F8D3B-BDBF-2193-3B88-A36025442804}"/>
              </a:ext>
            </a:extLst>
          </p:cNvPr>
          <p:cNvSpPr/>
          <p:nvPr/>
        </p:nvSpPr>
        <p:spPr>
          <a:xfrm>
            <a:off x="0" y="4828032"/>
            <a:ext cx="9144000" cy="310896"/>
          </a:xfrm>
          <a:prstGeom prst="rect">
            <a:avLst/>
          </a:prstGeom>
          <a:solidFill>
            <a:srgbClr val="0B2344"/>
          </a:solidFill>
          <a:ln w="12700">
            <a:solidFill>
              <a:srgbClr val="0B2344"/>
            </a:solidFill>
            <a:prstDash val="solid"/>
          </a:ln>
        </p:spPr>
        <p:txBody>
          <a:bodyPr/>
          <a:lstStyle/>
          <a:p>
            <a:endParaRPr lang="en-US"/>
          </a:p>
        </p:txBody>
      </p:sp>
      <p:sp>
        <p:nvSpPr>
          <p:cNvPr id="33" name="Text 31">
            <a:extLst>
              <a:ext uri="{FF2B5EF4-FFF2-40B4-BE49-F238E27FC236}">
                <a16:creationId xmlns:a16="http://schemas.microsoft.com/office/drawing/2014/main" id="{8DB4C714-3919-5592-2FFA-046629272F36}"/>
              </a:ext>
            </a:extLst>
          </p:cNvPr>
          <p:cNvSpPr/>
          <p:nvPr/>
        </p:nvSpPr>
        <p:spPr>
          <a:xfrm>
            <a:off x="274320" y="4828032"/>
            <a:ext cx="7132320" cy="310896"/>
          </a:xfrm>
          <a:prstGeom prst="rect">
            <a:avLst/>
          </a:prstGeom>
          <a:noFill/>
          <a:ln/>
        </p:spPr>
        <p:txBody>
          <a:bodyPr wrap="square" lIns="0" tIns="0" rIns="0" bIns="0" rtlCol="0" anchor="ctr"/>
          <a:lstStyle/>
          <a:p>
            <a:pPr marL="0" indent="0">
              <a:buNone/>
            </a:pPr>
            <a:r>
              <a:rPr lang="en-US" sz="800" dirty="0">
                <a:solidFill>
                  <a:srgbClr val="B5935A"/>
                </a:solidFill>
                <a:latin typeface="Calibri" pitchFamily="34" charset="0"/>
                <a:ea typeface="Calibri" pitchFamily="34" charset="-122"/>
                <a:cs typeface="Calibri" pitchFamily="34" charset="-120"/>
              </a:rPr>
              <a:t>Black Box  |  Application Support Report  |  Ultra Gas &amp; Greenline  |  October 2026</a:t>
            </a:r>
            <a:endParaRPr lang="en-US" sz="800" dirty="0"/>
          </a:p>
        </p:txBody>
      </p:sp>
      <p:sp>
        <p:nvSpPr>
          <p:cNvPr id="34" name="Text 32">
            <a:extLst>
              <a:ext uri="{FF2B5EF4-FFF2-40B4-BE49-F238E27FC236}">
                <a16:creationId xmlns:a16="http://schemas.microsoft.com/office/drawing/2014/main" id="{ABB79C19-F152-309A-8052-637E8DFE0F6B}"/>
              </a:ext>
            </a:extLst>
          </p:cNvPr>
          <p:cNvSpPr/>
          <p:nvPr/>
        </p:nvSpPr>
        <p:spPr>
          <a:xfrm>
            <a:off x="7863840" y="4828032"/>
            <a:ext cx="1097280" cy="310896"/>
          </a:xfrm>
          <a:prstGeom prst="rect">
            <a:avLst/>
          </a:prstGeom>
          <a:noFill/>
          <a:ln/>
        </p:spPr>
        <p:txBody>
          <a:bodyPr wrap="square" lIns="0" tIns="0" rIns="0" bIns="0"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8 / 10</a:t>
            </a:r>
            <a:endParaRPr lang="en-US" sz="800" dirty="0"/>
          </a:p>
        </p:txBody>
      </p:sp>
    </p:spTree>
    <p:extLst>
      <p:ext uri="{BB962C8B-B14F-4D97-AF65-F5344CB8AC3E}">
        <p14:creationId xmlns:p14="http://schemas.microsoft.com/office/powerpoint/2010/main" val="445686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0040" y="137160"/>
            <a:ext cx="8503920" cy="237744"/>
          </a:xfrm>
          <a:prstGeom prst="rect">
            <a:avLst/>
          </a:prstGeom>
          <a:noFill/>
          <a:ln/>
        </p:spPr>
        <p:txBody>
          <a:bodyPr wrap="square" lIns="0" tIns="0" rIns="0" bIns="0" rtlCol="0" anchor="ctr"/>
          <a:lstStyle/>
          <a:p>
            <a:pPr marL="0" indent="0">
              <a:buNone/>
            </a:pPr>
            <a:r>
              <a:rPr lang="en-US" sz="800" b="1" kern="0" spc="200" dirty="0">
                <a:solidFill>
                  <a:srgbClr val="B5935A"/>
                </a:solidFill>
                <a:latin typeface="Calibri" pitchFamily="34" charset="0"/>
                <a:ea typeface="Calibri" pitchFamily="34" charset="-122"/>
                <a:cs typeface="Calibri" pitchFamily="34" charset="-120"/>
              </a:rPr>
              <a:t>INCIDENT MANAGEMENT</a:t>
            </a:r>
            <a:endParaRPr lang="en-US" sz="800" dirty="0"/>
          </a:p>
        </p:txBody>
      </p:sp>
      <p:sp>
        <p:nvSpPr>
          <p:cNvPr id="3" name="Text 1"/>
          <p:cNvSpPr/>
          <p:nvPr/>
        </p:nvSpPr>
        <p:spPr>
          <a:xfrm>
            <a:off x="320040" y="411480"/>
            <a:ext cx="8503920" cy="365760"/>
          </a:xfrm>
          <a:prstGeom prst="rect">
            <a:avLst/>
          </a:prstGeom>
          <a:noFill/>
          <a:ln/>
        </p:spPr>
        <p:txBody>
          <a:bodyPr wrap="square" lIns="0" tIns="0" rIns="0" bIns="0" rtlCol="0" anchor="ctr"/>
          <a:lstStyle/>
          <a:p>
            <a:pPr marL="0" indent="0">
              <a:buNone/>
            </a:pPr>
            <a:r>
              <a:rPr lang="en-US" sz="1800" b="1" dirty="0">
                <a:solidFill>
                  <a:srgbClr val="0B2344"/>
                </a:solidFill>
                <a:latin typeface="Georgia" pitchFamily="34" charset="0"/>
                <a:ea typeface="Georgia" pitchFamily="34" charset="-122"/>
                <a:cs typeface="Georgia" pitchFamily="34" charset="-120"/>
              </a:rPr>
              <a:t>Incident Summary – Greenline &amp; Ultra Gas  |  October 2026</a:t>
            </a:r>
            <a:endParaRPr lang="en-US" sz="1800" dirty="0"/>
          </a:p>
        </p:txBody>
      </p:sp>
      <p:sp>
        <p:nvSpPr>
          <p:cNvPr id="5" name="Text 3"/>
          <p:cNvSpPr/>
          <p:nvPr/>
        </p:nvSpPr>
        <p:spPr>
          <a:xfrm>
            <a:off x="548640" y="1097280"/>
            <a:ext cx="1828800" cy="502920"/>
          </a:xfrm>
          <a:prstGeom prst="rect">
            <a:avLst/>
          </a:prstGeom>
          <a:noFill/>
          <a:ln/>
        </p:spPr>
        <p:txBody>
          <a:bodyPr wrap="square" lIns="0" tIns="0" rIns="0" bIns="0" rtlCol="0" anchor="ctr"/>
          <a:lstStyle/>
          <a:p>
            <a:pPr marL="0" indent="0" algn="ctr">
              <a:buNone/>
            </a:pPr>
            <a:endParaRPr lang="en-US" sz="2800" dirty="0"/>
          </a:p>
        </p:txBody>
      </p:sp>
      <p:sp>
        <p:nvSpPr>
          <p:cNvPr id="6" name="Text 4"/>
          <p:cNvSpPr/>
          <p:nvPr/>
        </p:nvSpPr>
        <p:spPr>
          <a:xfrm>
            <a:off x="548640" y="1645920"/>
            <a:ext cx="1828800" cy="274320"/>
          </a:xfrm>
          <a:prstGeom prst="rect">
            <a:avLst/>
          </a:prstGeom>
          <a:noFill/>
          <a:ln/>
        </p:spPr>
        <p:txBody>
          <a:bodyPr wrap="square" lIns="0" tIns="0" rIns="0" bIns="0" rtlCol="0" anchor="ctr"/>
          <a:lstStyle/>
          <a:p>
            <a:pPr marL="0" indent="0" algn="ctr">
              <a:buNone/>
            </a:pPr>
            <a:endParaRPr lang="en-US" sz="1400" dirty="0"/>
          </a:p>
        </p:txBody>
      </p:sp>
      <p:sp>
        <p:nvSpPr>
          <p:cNvPr id="8" name="Text 6"/>
          <p:cNvSpPr/>
          <p:nvPr/>
        </p:nvSpPr>
        <p:spPr>
          <a:xfrm>
            <a:off x="2697480" y="1097280"/>
            <a:ext cx="1828800" cy="502920"/>
          </a:xfrm>
          <a:prstGeom prst="rect">
            <a:avLst/>
          </a:prstGeom>
          <a:noFill/>
          <a:ln/>
        </p:spPr>
        <p:txBody>
          <a:bodyPr wrap="square" lIns="0" tIns="0" rIns="0" bIns="0" rtlCol="0" anchor="ctr"/>
          <a:lstStyle/>
          <a:p>
            <a:pPr marL="0" indent="0" algn="ctr">
              <a:buNone/>
            </a:pPr>
            <a:endParaRPr lang="en-US" sz="2800" dirty="0"/>
          </a:p>
        </p:txBody>
      </p:sp>
      <p:sp>
        <p:nvSpPr>
          <p:cNvPr id="9" name="Text 7"/>
          <p:cNvSpPr/>
          <p:nvPr/>
        </p:nvSpPr>
        <p:spPr>
          <a:xfrm>
            <a:off x="2697480" y="1645920"/>
            <a:ext cx="1828800" cy="274320"/>
          </a:xfrm>
          <a:prstGeom prst="rect">
            <a:avLst/>
          </a:prstGeom>
          <a:noFill/>
          <a:ln/>
        </p:spPr>
        <p:txBody>
          <a:bodyPr wrap="square" lIns="0" tIns="0" rIns="0" bIns="0" rtlCol="0" anchor="ctr"/>
          <a:lstStyle/>
          <a:p>
            <a:pPr marL="0" indent="0" algn="ctr">
              <a:buNone/>
            </a:pPr>
            <a:endParaRPr lang="en-US" sz="1400" dirty="0"/>
          </a:p>
        </p:txBody>
      </p:sp>
      <p:sp>
        <p:nvSpPr>
          <p:cNvPr id="11" name="Text 9"/>
          <p:cNvSpPr/>
          <p:nvPr/>
        </p:nvSpPr>
        <p:spPr>
          <a:xfrm>
            <a:off x="4846320" y="1097280"/>
            <a:ext cx="1828800" cy="502920"/>
          </a:xfrm>
          <a:prstGeom prst="rect">
            <a:avLst/>
          </a:prstGeom>
          <a:noFill/>
          <a:ln/>
        </p:spPr>
        <p:txBody>
          <a:bodyPr wrap="square" lIns="0" tIns="0" rIns="0" bIns="0" rtlCol="0" anchor="ctr"/>
          <a:lstStyle/>
          <a:p>
            <a:pPr marL="0" indent="0" algn="ctr">
              <a:buNone/>
            </a:pPr>
            <a:endParaRPr lang="en-US" sz="2800" dirty="0"/>
          </a:p>
        </p:txBody>
      </p:sp>
      <p:sp>
        <p:nvSpPr>
          <p:cNvPr id="12" name="Text 10"/>
          <p:cNvSpPr/>
          <p:nvPr/>
        </p:nvSpPr>
        <p:spPr>
          <a:xfrm>
            <a:off x="4846320" y="1645920"/>
            <a:ext cx="1828800" cy="274320"/>
          </a:xfrm>
          <a:prstGeom prst="rect">
            <a:avLst/>
          </a:prstGeom>
          <a:noFill/>
          <a:ln/>
        </p:spPr>
        <p:txBody>
          <a:bodyPr wrap="square" lIns="0" tIns="0" rIns="0" bIns="0" rtlCol="0" anchor="ctr"/>
          <a:lstStyle/>
          <a:p>
            <a:pPr marL="0" indent="0" algn="ctr">
              <a:buNone/>
            </a:pPr>
            <a:endParaRPr lang="en-US" sz="1400" dirty="0"/>
          </a:p>
        </p:txBody>
      </p:sp>
      <p:sp>
        <p:nvSpPr>
          <p:cNvPr id="14" name="Text 12"/>
          <p:cNvSpPr/>
          <p:nvPr/>
        </p:nvSpPr>
        <p:spPr>
          <a:xfrm>
            <a:off x="6995160" y="1097280"/>
            <a:ext cx="1828800" cy="502920"/>
          </a:xfrm>
          <a:prstGeom prst="rect">
            <a:avLst/>
          </a:prstGeom>
          <a:noFill/>
          <a:ln/>
        </p:spPr>
        <p:txBody>
          <a:bodyPr wrap="square" lIns="0" tIns="0" rIns="0" bIns="0" rtlCol="0" anchor="ctr"/>
          <a:lstStyle/>
          <a:p>
            <a:pPr marL="0" indent="0" algn="ctr">
              <a:buNone/>
            </a:pPr>
            <a:endParaRPr lang="en-US" sz="2800" dirty="0"/>
          </a:p>
        </p:txBody>
      </p:sp>
      <p:sp>
        <p:nvSpPr>
          <p:cNvPr id="15" name="Text 13"/>
          <p:cNvSpPr/>
          <p:nvPr/>
        </p:nvSpPr>
        <p:spPr>
          <a:xfrm>
            <a:off x="6995160" y="1645920"/>
            <a:ext cx="1828800" cy="274320"/>
          </a:xfrm>
          <a:prstGeom prst="rect">
            <a:avLst/>
          </a:prstGeom>
          <a:noFill/>
          <a:ln/>
        </p:spPr>
        <p:txBody>
          <a:bodyPr wrap="square" lIns="0" tIns="0" rIns="0" bIns="0" rtlCol="0" anchor="ctr"/>
          <a:lstStyle/>
          <a:p>
            <a:pPr marL="0" indent="0" algn="ctr">
              <a:buNone/>
            </a:pPr>
            <a:endParaRPr lang="en-US" sz="1400" dirty="0"/>
          </a:p>
        </p:txBody>
      </p:sp>
      <p:sp>
        <p:nvSpPr>
          <p:cNvPr id="16" name="Text 14"/>
          <p:cNvSpPr/>
          <p:nvPr/>
        </p:nvSpPr>
        <p:spPr>
          <a:xfrm>
            <a:off x="320040" y="759224"/>
            <a:ext cx="4114800" cy="256032"/>
          </a:xfrm>
          <a:prstGeom prst="rect">
            <a:avLst/>
          </a:prstGeom>
          <a:noFill/>
          <a:ln/>
        </p:spPr>
        <p:txBody>
          <a:bodyPr wrap="square" lIns="0" tIns="0" rIns="0" bIns="0" rtlCol="0" anchor="ctr"/>
          <a:lstStyle/>
          <a:p>
            <a:pPr marL="0" indent="0">
              <a:buNone/>
            </a:pPr>
            <a:r>
              <a:rPr lang="en-US" sz="1300" b="1" dirty="0">
                <a:solidFill>
                  <a:srgbClr val="0B2344"/>
                </a:solidFill>
                <a:latin typeface="Calibri" pitchFamily="34" charset="0"/>
                <a:ea typeface="Calibri" pitchFamily="34" charset="-122"/>
                <a:cs typeface="Calibri" pitchFamily="34" charset="-120"/>
              </a:rPr>
              <a:t>Finance Incidents (22)</a:t>
            </a:r>
            <a:endParaRPr lang="en-US" sz="1300" dirty="0"/>
          </a:p>
        </p:txBody>
      </p:sp>
      <p:sp>
        <p:nvSpPr>
          <p:cNvPr id="17" name="Text 15"/>
          <p:cNvSpPr/>
          <p:nvPr/>
        </p:nvSpPr>
        <p:spPr>
          <a:xfrm>
            <a:off x="365760" y="1051556"/>
            <a:ext cx="4114800" cy="22860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 Multiple Upload Tax Codes</a:t>
            </a:r>
            <a:endParaRPr lang="en-US" sz="1100" dirty="0"/>
          </a:p>
        </p:txBody>
      </p:sp>
      <p:sp>
        <p:nvSpPr>
          <p:cNvPr id="18" name="Text 16"/>
          <p:cNvSpPr/>
          <p:nvPr/>
        </p:nvSpPr>
        <p:spPr>
          <a:xfrm>
            <a:off x="365760" y="1289300"/>
            <a:ext cx="4114800" cy="22860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 Reversal Issue</a:t>
            </a:r>
            <a:endParaRPr lang="en-US" sz="1100" dirty="0"/>
          </a:p>
        </p:txBody>
      </p:sp>
      <p:sp>
        <p:nvSpPr>
          <p:cNvPr id="19" name="Text 17"/>
          <p:cNvSpPr/>
          <p:nvPr/>
        </p:nvSpPr>
        <p:spPr>
          <a:xfrm>
            <a:off x="365760" y="1527044"/>
            <a:ext cx="4114800" cy="22860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 Vendor Code Block</a:t>
            </a:r>
            <a:endParaRPr lang="en-US" sz="1100" dirty="0"/>
          </a:p>
        </p:txBody>
      </p:sp>
      <p:sp>
        <p:nvSpPr>
          <p:cNvPr id="20" name="Text 18"/>
          <p:cNvSpPr/>
          <p:nvPr/>
        </p:nvSpPr>
        <p:spPr>
          <a:xfrm>
            <a:off x="365760" y="1764788"/>
            <a:ext cx="4114800" cy="22860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 PC/CC Creation &amp; Deletion</a:t>
            </a:r>
            <a:endParaRPr lang="en-US" sz="1100" dirty="0"/>
          </a:p>
        </p:txBody>
      </p:sp>
      <p:sp>
        <p:nvSpPr>
          <p:cNvPr id="21" name="Text 19"/>
          <p:cNvSpPr/>
          <p:nvPr/>
        </p:nvSpPr>
        <p:spPr>
          <a:xfrm>
            <a:off x="365760" y="2002532"/>
            <a:ext cx="4114800" cy="22860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 Posting Error – CAPX Cons. trans.</a:t>
            </a:r>
            <a:endParaRPr lang="en-US" sz="1100" dirty="0"/>
          </a:p>
        </p:txBody>
      </p:sp>
      <p:sp>
        <p:nvSpPr>
          <p:cNvPr id="22" name="Text 20"/>
          <p:cNvSpPr/>
          <p:nvPr/>
        </p:nvSpPr>
        <p:spPr>
          <a:xfrm>
            <a:off x="365760" y="2240276"/>
            <a:ext cx="4114800" cy="22860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 CO Object Error</a:t>
            </a:r>
            <a:endParaRPr lang="en-US" sz="1100" dirty="0"/>
          </a:p>
        </p:txBody>
      </p:sp>
      <p:sp>
        <p:nvSpPr>
          <p:cNvPr id="23" name="Text 21"/>
          <p:cNvSpPr/>
          <p:nvPr/>
        </p:nvSpPr>
        <p:spPr>
          <a:xfrm>
            <a:off x="365760" y="2478020"/>
            <a:ext cx="4114800" cy="22860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 Company Code 1404 Expense Posting</a:t>
            </a:r>
            <a:endParaRPr lang="en-US" sz="1100" dirty="0"/>
          </a:p>
        </p:txBody>
      </p:sp>
      <p:sp>
        <p:nvSpPr>
          <p:cNvPr id="24" name="Text 22"/>
          <p:cNvSpPr/>
          <p:nvPr/>
        </p:nvSpPr>
        <p:spPr>
          <a:xfrm>
            <a:off x="365760" y="3013641"/>
            <a:ext cx="4114800" cy="22860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 UGTL FI Period Opening</a:t>
            </a:r>
            <a:endParaRPr lang="en-US" sz="1100" dirty="0"/>
          </a:p>
        </p:txBody>
      </p:sp>
      <p:sp>
        <p:nvSpPr>
          <p:cNvPr id="25" name="Text 23"/>
          <p:cNvSpPr/>
          <p:nvPr/>
        </p:nvSpPr>
        <p:spPr>
          <a:xfrm>
            <a:off x="4663440" y="1051556"/>
            <a:ext cx="4114800" cy="22860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 GL Mapping</a:t>
            </a:r>
            <a:endParaRPr lang="en-US" sz="1100" dirty="0"/>
          </a:p>
        </p:txBody>
      </p:sp>
      <p:sp>
        <p:nvSpPr>
          <p:cNvPr id="26" name="Text 24"/>
          <p:cNvSpPr/>
          <p:nvPr/>
        </p:nvSpPr>
        <p:spPr>
          <a:xfrm>
            <a:off x="4663440" y="1289300"/>
            <a:ext cx="4114800" cy="22860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 Chart of Accounts (Greenline &amp; Ultra Gas)</a:t>
            </a:r>
            <a:endParaRPr lang="en-US" sz="1100" dirty="0"/>
          </a:p>
        </p:txBody>
      </p:sp>
      <p:sp>
        <p:nvSpPr>
          <p:cNvPr id="27" name="Text 25"/>
          <p:cNvSpPr/>
          <p:nvPr/>
        </p:nvSpPr>
        <p:spPr>
          <a:xfrm>
            <a:off x="4663440" y="1527044"/>
            <a:ext cx="4114800" cy="22860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 GL 50000014 Telephone Allowance</a:t>
            </a:r>
            <a:endParaRPr lang="en-US" sz="1100" dirty="0"/>
          </a:p>
        </p:txBody>
      </p:sp>
      <p:sp>
        <p:nvSpPr>
          <p:cNvPr id="28" name="Text 26"/>
          <p:cNvSpPr/>
          <p:nvPr/>
        </p:nvSpPr>
        <p:spPr>
          <a:xfrm>
            <a:off x="4663440" y="1764788"/>
            <a:ext cx="4114800" cy="22860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 SAP E-Statement &amp; Bank Reconciliation</a:t>
            </a:r>
            <a:endParaRPr lang="en-US" sz="1100" dirty="0"/>
          </a:p>
        </p:txBody>
      </p:sp>
      <p:sp>
        <p:nvSpPr>
          <p:cNvPr id="29" name="Text 27"/>
          <p:cNvSpPr/>
          <p:nvPr/>
        </p:nvSpPr>
        <p:spPr>
          <a:xfrm>
            <a:off x="4663440" y="2002532"/>
            <a:ext cx="4114800" cy="22860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 Customer Ledger Access</a:t>
            </a:r>
            <a:endParaRPr lang="en-US" sz="1100" dirty="0"/>
          </a:p>
        </p:txBody>
      </p:sp>
      <p:sp>
        <p:nvSpPr>
          <p:cNvPr id="30" name="Text 28"/>
          <p:cNvSpPr/>
          <p:nvPr/>
        </p:nvSpPr>
        <p:spPr>
          <a:xfrm>
            <a:off x="4663440" y="2240276"/>
            <a:ext cx="4114800" cy="22860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 SAP Automatic Logout (SM35)</a:t>
            </a:r>
            <a:endParaRPr lang="en-US" sz="1100" dirty="0"/>
          </a:p>
        </p:txBody>
      </p:sp>
      <p:sp>
        <p:nvSpPr>
          <p:cNvPr id="31" name="Text 29"/>
          <p:cNvSpPr/>
          <p:nvPr/>
        </p:nvSpPr>
        <p:spPr>
          <a:xfrm>
            <a:off x="4663440" y="2478020"/>
            <a:ext cx="4114800" cy="22860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 Untick Post Automatically Only</a:t>
            </a:r>
            <a:endParaRPr lang="en-US" sz="1100" dirty="0"/>
          </a:p>
        </p:txBody>
      </p:sp>
      <p:sp>
        <p:nvSpPr>
          <p:cNvPr id="32" name="Shape 30"/>
          <p:cNvSpPr/>
          <p:nvPr/>
        </p:nvSpPr>
        <p:spPr>
          <a:xfrm>
            <a:off x="0" y="4828032"/>
            <a:ext cx="9144000" cy="310896"/>
          </a:xfrm>
          <a:prstGeom prst="rect">
            <a:avLst/>
          </a:prstGeom>
          <a:solidFill>
            <a:srgbClr val="0B2344"/>
          </a:solidFill>
          <a:ln w="12700">
            <a:solidFill>
              <a:srgbClr val="0B2344"/>
            </a:solidFill>
            <a:prstDash val="solid"/>
          </a:ln>
        </p:spPr>
        <p:txBody>
          <a:bodyPr/>
          <a:lstStyle/>
          <a:p>
            <a:endParaRPr lang="en-US"/>
          </a:p>
        </p:txBody>
      </p:sp>
      <p:sp>
        <p:nvSpPr>
          <p:cNvPr id="33" name="Text 31"/>
          <p:cNvSpPr/>
          <p:nvPr/>
        </p:nvSpPr>
        <p:spPr>
          <a:xfrm>
            <a:off x="274320" y="4828032"/>
            <a:ext cx="7132320" cy="310896"/>
          </a:xfrm>
          <a:prstGeom prst="rect">
            <a:avLst/>
          </a:prstGeom>
          <a:noFill/>
          <a:ln/>
        </p:spPr>
        <p:txBody>
          <a:bodyPr wrap="square" lIns="0" tIns="0" rIns="0" bIns="0" rtlCol="0" anchor="ctr"/>
          <a:lstStyle/>
          <a:p>
            <a:pPr marL="0" indent="0">
              <a:buNone/>
            </a:pPr>
            <a:r>
              <a:rPr lang="en-US" sz="800" dirty="0">
                <a:solidFill>
                  <a:srgbClr val="B5935A"/>
                </a:solidFill>
                <a:latin typeface="Calibri" pitchFamily="34" charset="0"/>
                <a:ea typeface="Calibri" pitchFamily="34" charset="-122"/>
                <a:cs typeface="Calibri" pitchFamily="34" charset="-120"/>
              </a:rPr>
              <a:t>Black Box  |  Application Support Report  |  Ultra Gas &amp; Greenline  |  October 2026</a:t>
            </a:r>
            <a:endParaRPr lang="en-US" sz="800" dirty="0"/>
          </a:p>
        </p:txBody>
      </p:sp>
      <p:sp>
        <p:nvSpPr>
          <p:cNvPr id="34" name="Text 32"/>
          <p:cNvSpPr/>
          <p:nvPr/>
        </p:nvSpPr>
        <p:spPr>
          <a:xfrm>
            <a:off x="7863840" y="4828032"/>
            <a:ext cx="1097280" cy="310896"/>
          </a:xfrm>
          <a:prstGeom prst="rect">
            <a:avLst/>
          </a:prstGeom>
          <a:noFill/>
          <a:ln/>
        </p:spPr>
        <p:txBody>
          <a:bodyPr wrap="square" lIns="0" tIns="0" rIns="0" bIns="0"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9 / 10</a:t>
            </a:r>
            <a:endParaRPr lang="en-US" sz="800" dirty="0"/>
          </a:p>
        </p:txBody>
      </p:sp>
      <p:sp>
        <p:nvSpPr>
          <p:cNvPr id="35" name="TextBox 34">
            <a:extLst>
              <a:ext uri="{FF2B5EF4-FFF2-40B4-BE49-F238E27FC236}">
                <a16:creationId xmlns:a16="http://schemas.microsoft.com/office/drawing/2014/main" id="{C109EE0F-6B85-E230-3C17-FE63DACA774A}"/>
              </a:ext>
            </a:extLst>
          </p:cNvPr>
          <p:cNvSpPr txBox="1"/>
          <p:nvPr/>
        </p:nvSpPr>
        <p:spPr>
          <a:xfrm>
            <a:off x="1302327" y="3463636"/>
            <a:ext cx="184731" cy="369332"/>
          </a:xfrm>
          <a:prstGeom prst="rect">
            <a:avLst/>
          </a:prstGeom>
          <a:noFill/>
        </p:spPr>
        <p:txBody>
          <a:bodyPr wrap="none" rtlCol="0">
            <a:spAutoFit/>
          </a:bodyPr>
          <a:lstStyle/>
          <a:p>
            <a:endParaRPr lang="en-US" dirty="0"/>
          </a:p>
        </p:txBody>
      </p:sp>
      <p:sp>
        <p:nvSpPr>
          <p:cNvPr id="37" name="Text 2">
            <a:extLst>
              <a:ext uri="{FF2B5EF4-FFF2-40B4-BE49-F238E27FC236}">
                <a16:creationId xmlns:a16="http://schemas.microsoft.com/office/drawing/2014/main" id="{AE348BA6-E7BF-35F5-D360-2AA0151F26CB}"/>
              </a:ext>
            </a:extLst>
          </p:cNvPr>
          <p:cNvSpPr/>
          <p:nvPr/>
        </p:nvSpPr>
        <p:spPr>
          <a:xfrm>
            <a:off x="320040" y="2743202"/>
            <a:ext cx="4114800" cy="256032"/>
          </a:xfrm>
          <a:prstGeom prst="rect">
            <a:avLst/>
          </a:prstGeom>
          <a:noFill/>
          <a:ln/>
        </p:spPr>
        <p:txBody>
          <a:bodyPr wrap="square" lIns="0" tIns="0" rIns="0" bIns="0" rtlCol="0" anchor="ctr"/>
          <a:lstStyle/>
          <a:p>
            <a:pPr marL="0" indent="0">
              <a:buNone/>
            </a:pPr>
            <a:r>
              <a:rPr lang="en-US" sz="1300" b="1" dirty="0">
                <a:solidFill>
                  <a:srgbClr val="0B2344"/>
                </a:solidFill>
                <a:latin typeface="Calibri" pitchFamily="34" charset="0"/>
                <a:ea typeface="Calibri" pitchFamily="34" charset="-122"/>
                <a:cs typeface="Calibri" pitchFamily="34" charset="-120"/>
              </a:rPr>
              <a:t>Basis Incidents (15)</a:t>
            </a:r>
            <a:endParaRPr lang="en-US" sz="1300" dirty="0"/>
          </a:p>
        </p:txBody>
      </p:sp>
      <p:sp>
        <p:nvSpPr>
          <p:cNvPr id="39" name="Text 3">
            <a:extLst>
              <a:ext uri="{FF2B5EF4-FFF2-40B4-BE49-F238E27FC236}">
                <a16:creationId xmlns:a16="http://schemas.microsoft.com/office/drawing/2014/main" id="{281C2721-87EC-6C71-14CB-F45A77B531FD}"/>
              </a:ext>
            </a:extLst>
          </p:cNvPr>
          <p:cNvSpPr/>
          <p:nvPr/>
        </p:nvSpPr>
        <p:spPr>
          <a:xfrm>
            <a:off x="365760" y="3201787"/>
            <a:ext cx="4114800" cy="256032"/>
          </a:xfrm>
          <a:prstGeom prst="rect">
            <a:avLst/>
          </a:prstGeom>
          <a:noFill/>
          <a:ln/>
        </p:spPr>
        <p:txBody>
          <a:bodyPr wrap="square" lIns="0" tIns="0" rIns="0" bIns="0" rtlCol="0" anchor="ctr"/>
          <a:lstStyle/>
          <a:p>
            <a:pPr marL="0" indent="0">
              <a:buNone/>
            </a:pPr>
            <a:r>
              <a:rPr lang="en-US" sz="1200" dirty="0">
                <a:solidFill>
                  <a:srgbClr val="1A202C"/>
                </a:solidFill>
                <a:latin typeface="Calibri" pitchFamily="34" charset="0"/>
                <a:ea typeface="Calibri" pitchFamily="34" charset="-122"/>
                <a:cs typeface="Calibri" pitchFamily="34" charset="-120"/>
              </a:rPr>
              <a:t>• </a:t>
            </a:r>
            <a:r>
              <a:rPr lang="en-US" sz="1100" dirty="0">
                <a:solidFill>
                  <a:srgbClr val="1A202C"/>
                </a:solidFill>
                <a:latin typeface="Calibri" pitchFamily="34" charset="0"/>
                <a:ea typeface="Calibri" pitchFamily="34" charset="-122"/>
                <a:cs typeface="Calibri" pitchFamily="34" charset="-120"/>
              </a:rPr>
              <a:t>SAP ID Password Reset / Reactivation</a:t>
            </a:r>
            <a:endParaRPr lang="en-US" sz="1100" dirty="0"/>
          </a:p>
        </p:txBody>
      </p:sp>
      <p:sp>
        <p:nvSpPr>
          <p:cNvPr id="41" name="Text 4">
            <a:extLst>
              <a:ext uri="{FF2B5EF4-FFF2-40B4-BE49-F238E27FC236}">
                <a16:creationId xmlns:a16="http://schemas.microsoft.com/office/drawing/2014/main" id="{EE4F365B-12AA-2FA3-C4A1-FE3372A96C75}"/>
              </a:ext>
            </a:extLst>
          </p:cNvPr>
          <p:cNvSpPr/>
          <p:nvPr/>
        </p:nvSpPr>
        <p:spPr>
          <a:xfrm>
            <a:off x="365760" y="3476107"/>
            <a:ext cx="4114800" cy="25603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 Transition employee – Push to SAP, Email ID &amp; User ID creation</a:t>
            </a:r>
            <a:endParaRPr lang="en-US" sz="1100" dirty="0"/>
          </a:p>
        </p:txBody>
      </p:sp>
      <p:sp>
        <p:nvSpPr>
          <p:cNvPr id="43" name="Text 5">
            <a:extLst>
              <a:ext uri="{FF2B5EF4-FFF2-40B4-BE49-F238E27FC236}">
                <a16:creationId xmlns:a16="http://schemas.microsoft.com/office/drawing/2014/main" id="{0068E2E8-60B9-55F1-57F0-C8B3B9E74103}"/>
              </a:ext>
            </a:extLst>
          </p:cNvPr>
          <p:cNvSpPr/>
          <p:nvPr/>
        </p:nvSpPr>
        <p:spPr>
          <a:xfrm>
            <a:off x="365760" y="3750427"/>
            <a:ext cx="4114800" cy="25603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 New Hire data FTM Oct 2026 – User creation</a:t>
            </a:r>
            <a:endParaRPr lang="en-US" sz="1100" dirty="0"/>
          </a:p>
        </p:txBody>
      </p:sp>
      <p:sp>
        <p:nvSpPr>
          <p:cNvPr id="45" name="Text 6">
            <a:extLst>
              <a:ext uri="{FF2B5EF4-FFF2-40B4-BE49-F238E27FC236}">
                <a16:creationId xmlns:a16="http://schemas.microsoft.com/office/drawing/2014/main" id="{8213207F-A9EF-3797-E291-54569D447756}"/>
              </a:ext>
            </a:extLst>
          </p:cNvPr>
          <p:cNvSpPr/>
          <p:nvPr/>
        </p:nvSpPr>
        <p:spPr>
          <a:xfrm>
            <a:off x="365760" y="4024747"/>
            <a:ext cx="4114800" cy="25603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 SAP Login Issue / Myspace issue</a:t>
            </a:r>
            <a:endParaRPr lang="en-US" sz="1100" dirty="0"/>
          </a:p>
        </p:txBody>
      </p:sp>
      <p:sp>
        <p:nvSpPr>
          <p:cNvPr id="47" name="Text 7">
            <a:extLst>
              <a:ext uri="{FF2B5EF4-FFF2-40B4-BE49-F238E27FC236}">
                <a16:creationId xmlns:a16="http://schemas.microsoft.com/office/drawing/2014/main" id="{FDD79B2F-B0BB-5A68-C2E6-12C24943A5F0}"/>
              </a:ext>
            </a:extLst>
          </p:cNvPr>
          <p:cNvSpPr/>
          <p:nvPr/>
        </p:nvSpPr>
        <p:spPr>
          <a:xfrm>
            <a:off x="365760" y="4299067"/>
            <a:ext cx="4114800" cy="25603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 UGTL MM Period Opening</a:t>
            </a:r>
            <a:endParaRPr lang="en-US" sz="1100" dirty="0"/>
          </a:p>
        </p:txBody>
      </p:sp>
      <p:sp>
        <p:nvSpPr>
          <p:cNvPr id="49" name="Text 8">
            <a:extLst>
              <a:ext uri="{FF2B5EF4-FFF2-40B4-BE49-F238E27FC236}">
                <a16:creationId xmlns:a16="http://schemas.microsoft.com/office/drawing/2014/main" id="{D77D3C1B-95CA-30F3-B4CC-F3F35638C255}"/>
              </a:ext>
            </a:extLst>
          </p:cNvPr>
          <p:cNvSpPr/>
          <p:nvPr/>
        </p:nvSpPr>
        <p:spPr>
          <a:xfrm>
            <a:off x="365760" y="4573387"/>
            <a:ext cx="4114800" cy="256032"/>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 SCM Error while Retail Sales posting (Production)</a:t>
            </a:r>
            <a:endParaRPr lang="en-US" sz="1100" dirty="0"/>
          </a:p>
        </p:txBody>
      </p:sp>
      <p:sp>
        <p:nvSpPr>
          <p:cNvPr id="51" name="Text 9">
            <a:extLst>
              <a:ext uri="{FF2B5EF4-FFF2-40B4-BE49-F238E27FC236}">
                <a16:creationId xmlns:a16="http://schemas.microsoft.com/office/drawing/2014/main" id="{CA285225-537E-FE5E-BDAA-F4C4F5BC4822}"/>
              </a:ext>
            </a:extLst>
          </p:cNvPr>
          <p:cNvSpPr/>
          <p:nvPr/>
        </p:nvSpPr>
        <p:spPr>
          <a:xfrm>
            <a:off x="4720245" y="2881747"/>
            <a:ext cx="4114800" cy="256032"/>
          </a:xfrm>
          <a:prstGeom prst="rect">
            <a:avLst/>
          </a:prstGeom>
          <a:noFill/>
          <a:ln/>
        </p:spPr>
        <p:txBody>
          <a:bodyPr wrap="square" lIns="0" tIns="0" rIns="0" bIns="0" rtlCol="0" anchor="ctr"/>
          <a:lstStyle/>
          <a:p>
            <a:pPr marL="0" indent="0">
              <a:buNone/>
            </a:pPr>
            <a:r>
              <a:rPr lang="en-US" sz="1300" b="1" dirty="0">
                <a:solidFill>
                  <a:srgbClr val="0B2344"/>
                </a:solidFill>
                <a:latin typeface="Calibri" pitchFamily="34" charset="0"/>
                <a:ea typeface="Calibri" pitchFamily="34" charset="-122"/>
                <a:cs typeface="Calibri" pitchFamily="34" charset="-120"/>
              </a:rPr>
              <a:t>Sales &amp; Distribution (1)</a:t>
            </a:r>
            <a:endParaRPr lang="en-US" sz="1300" dirty="0"/>
          </a:p>
        </p:txBody>
      </p:sp>
      <p:sp>
        <p:nvSpPr>
          <p:cNvPr id="53" name="Text 10">
            <a:extLst>
              <a:ext uri="{FF2B5EF4-FFF2-40B4-BE49-F238E27FC236}">
                <a16:creationId xmlns:a16="http://schemas.microsoft.com/office/drawing/2014/main" id="{1E6BF37F-C96C-2341-0CC9-375A223370AA}"/>
              </a:ext>
            </a:extLst>
          </p:cNvPr>
          <p:cNvSpPr/>
          <p:nvPr/>
        </p:nvSpPr>
        <p:spPr>
          <a:xfrm>
            <a:off x="4800600" y="3201787"/>
            <a:ext cx="4023360" cy="27432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 Unable to see the order details in DN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938B3-C913-F986-A9BB-C6BF2651D96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D32D4EA-5437-830E-997B-970DBAB9B7AE}"/>
              </a:ext>
            </a:extLst>
          </p:cNvPr>
          <p:cNvSpPr txBox="1"/>
          <p:nvPr/>
        </p:nvSpPr>
        <p:spPr>
          <a:xfrm>
            <a:off x="320040" y="118872"/>
            <a:ext cx="8503920" cy="123111"/>
          </a:xfrm>
          <a:prstGeom prst="rect">
            <a:avLst/>
          </a:prstGeom>
          <a:noFill/>
        </p:spPr>
        <p:txBody>
          <a:bodyPr wrap="square" lIns="0" tIns="0" rIns="0" bIns="0" anchor="t">
            <a:spAutoFit/>
          </a:bodyPr>
          <a:lstStyle/>
          <a:p>
            <a:pPr algn="l">
              <a:spcAft>
                <a:spcPts val="300"/>
              </a:spcAft>
            </a:pPr>
            <a:r>
              <a:rPr lang="en-US" sz="800" b="1" i="0" dirty="0">
                <a:solidFill>
                  <a:srgbClr val="BF9141"/>
                </a:solidFill>
                <a:latin typeface="Calibri"/>
              </a:rPr>
              <a:t>SAP Open Issues </a:t>
            </a:r>
            <a:r>
              <a:rPr sz="800" b="1" i="0" dirty="0">
                <a:solidFill>
                  <a:srgbClr val="BF9141"/>
                </a:solidFill>
                <a:latin typeface="Calibri"/>
              </a:rPr>
              <a:t>· </a:t>
            </a:r>
            <a:r>
              <a:rPr lang="en-US" sz="800" b="1" i="0" dirty="0">
                <a:solidFill>
                  <a:srgbClr val="BF9141"/>
                </a:solidFill>
                <a:latin typeface="Calibri"/>
              </a:rPr>
              <a:t>Current Status</a:t>
            </a:r>
            <a:endParaRPr sz="800" b="1" i="0" dirty="0">
              <a:solidFill>
                <a:srgbClr val="BF9141"/>
              </a:solidFill>
              <a:latin typeface="Calibri"/>
            </a:endParaRPr>
          </a:p>
        </p:txBody>
      </p:sp>
      <p:sp>
        <p:nvSpPr>
          <p:cNvPr id="3" name="TextBox 2">
            <a:extLst>
              <a:ext uri="{FF2B5EF4-FFF2-40B4-BE49-F238E27FC236}">
                <a16:creationId xmlns:a16="http://schemas.microsoft.com/office/drawing/2014/main" id="{4F1BC387-2465-6FAB-E6C5-8E3BC124D1C7}"/>
              </a:ext>
            </a:extLst>
          </p:cNvPr>
          <p:cNvSpPr txBox="1"/>
          <p:nvPr/>
        </p:nvSpPr>
        <p:spPr>
          <a:xfrm>
            <a:off x="320040" y="384048"/>
            <a:ext cx="8503920" cy="384048"/>
          </a:xfrm>
          <a:prstGeom prst="rect">
            <a:avLst/>
          </a:prstGeom>
          <a:noFill/>
        </p:spPr>
        <p:txBody>
          <a:bodyPr wrap="square" lIns="0" tIns="0" rIns="0" bIns="0" anchor="t">
            <a:spAutoFit/>
          </a:bodyPr>
          <a:lstStyle/>
          <a:p>
            <a:pPr>
              <a:defRPr sz="2100" b="1">
                <a:solidFill>
                  <a:srgbClr val="122749"/>
                </a:solidFill>
                <a:latin typeface="Georgia"/>
              </a:defRPr>
            </a:pPr>
            <a:r>
              <a:rPr lang="en-US" sz="2000" b="1" dirty="0">
                <a:solidFill>
                  <a:srgbClr val="0B2344"/>
                </a:solidFill>
                <a:latin typeface="Georgia"/>
              </a:rPr>
              <a:t>Greenline &amp; Ultra Gas Open Issues Status</a:t>
            </a:r>
          </a:p>
        </p:txBody>
      </p:sp>
      <p:sp>
        <p:nvSpPr>
          <p:cNvPr id="5" name="Rectangle 4">
            <a:extLst>
              <a:ext uri="{FF2B5EF4-FFF2-40B4-BE49-F238E27FC236}">
                <a16:creationId xmlns:a16="http://schemas.microsoft.com/office/drawing/2014/main" id="{2FA90C4D-DB8E-EC93-08CD-7319E4976E94}"/>
              </a:ext>
            </a:extLst>
          </p:cNvPr>
          <p:cNvSpPr/>
          <p:nvPr/>
        </p:nvSpPr>
        <p:spPr>
          <a:xfrm>
            <a:off x="320040" y="4736592"/>
            <a:ext cx="8503920" cy="13716"/>
          </a:xfrm>
          <a:prstGeom prst="rect">
            <a:avLst/>
          </a:prstGeom>
          <a:solidFill>
            <a:srgbClr val="B59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D58E83AF-FCC3-1555-2F15-2A14B75536A0}"/>
              </a:ext>
            </a:extLst>
          </p:cNvPr>
          <p:cNvSpPr txBox="1"/>
          <p:nvPr/>
        </p:nvSpPr>
        <p:spPr>
          <a:xfrm>
            <a:off x="320040" y="4773168"/>
            <a:ext cx="7132320" cy="201168"/>
          </a:xfrm>
          <a:prstGeom prst="rect">
            <a:avLst/>
          </a:prstGeom>
          <a:noFill/>
        </p:spPr>
        <p:txBody>
          <a:bodyPr wrap="square" lIns="0" tIns="0" rIns="0" bIns="0" anchor="t">
            <a:spAutoFit/>
          </a:bodyPr>
          <a:lstStyle/>
          <a:p>
            <a:pPr algn="l">
              <a:spcAft>
                <a:spcPts val="300"/>
              </a:spcAft>
            </a:pPr>
            <a:r>
              <a:rPr sz="750" b="0" i="0">
                <a:solidFill>
                  <a:srgbClr val="BF9141"/>
                </a:solidFill>
                <a:latin typeface="Calibri"/>
              </a:rPr>
              <a:t>Black Box  |  Application Support Report  |  Ultra Gas &amp; Greenline  |  July–October 2026</a:t>
            </a:r>
          </a:p>
        </p:txBody>
      </p:sp>
      <p:sp>
        <p:nvSpPr>
          <p:cNvPr id="7" name="TextBox 6">
            <a:extLst>
              <a:ext uri="{FF2B5EF4-FFF2-40B4-BE49-F238E27FC236}">
                <a16:creationId xmlns:a16="http://schemas.microsoft.com/office/drawing/2014/main" id="{88CA9347-87E0-B015-7DC5-8E3E0F5B4DDE}"/>
              </a:ext>
            </a:extLst>
          </p:cNvPr>
          <p:cNvSpPr txBox="1"/>
          <p:nvPr/>
        </p:nvSpPr>
        <p:spPr>
          <a:xfrm>
            <a:off x="7863840" y="4773168"/>
            <a:ext cx="914400" cy="201168"/>
          </a:xfrm>
          <a:prstGeom prst="rect">
            <a:avLst/>
          </a:prstGeom>
          <a:noFill/>
        </p:spPr>
        <p:txBody>
          <a:bodyPr wrap="square" lIns="0" tIns="0" rIns="0" bIns="0" anchor="t">
            <a:spAutoFit/>
          </a:bodyPr>
          <a:lstStyle/>
          <a:p>
            <a:pPr algn="r"/>
            <a:r>
              <a:rPr sz="750">
                <a:solidFill>
                  <a:srgbClr val="0B2344"/>
                </a:solidFill>
                <a:latin typeface="Calibri"/>
              </a:rPr>
              <a:t>12 / 13</a:t>
            </a:r>
          </a:p>
        </p:txBody>
      </p:sp>
      <p:sp>
        <p:nvSpPr>
          <p:cNvPr id="8" name="Rounded Rectangle 7">
            <a:extLst>
              <a:ext uri="{FF2B5EF4-FFF2-40B4-BE49-F238E27FC236}">
                <a16:creationId xmlns:a16="http://schemas.microsoft.com/office/drawing/2014/main" id="{6C3E73FD-3CCB-8D72-5C70-40F4329E314C}"/>
              </a:ext>
            </a:extLst>
          </p:cNvPr>
          <p:cNvSpPr/>
          <p:nvPr/>
        </p:nvSpPr>
        <p:spPr>
          <a:xfrm>
            <a:off x="149013" y="768096"/>
            <a:ext cx="8798559" cy="3633855"/>
          </a:xfrm>
          <a:prstGeom prst="roundRect">
            <a:avLst>
              <a:gd name="adj" fmla="val 8000"/>
            </a:avLst>
          </a:prstGeom>
          <a:solidFill>
            <a:srgbClr val="F5F7FA"/>
          </a:solidFill>
          <a:ln w="8890">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6" name="Table 25">
            <a:extLst>
              <a:ext uri="{FF2B5EF4-FFF2-40B4-BE49-F238E27FC236}">
                <a16:creationId xmlns:a16="http://schemas.microsoft.com/office/drawing/2014/main" id="{BF0D80B2-954B-7622-42E4-6538E72400CE}"/>
              </a:ext>
            </a:extLst>
          </p:cNvPr>
          <p:cNvGraphicFramePr>
            <a:graphicFrameLocks noGrp="1"/>
          </p:cNvGraphicFramePr>
          <p:nvPr>
            <p:extLst>
              <p:ext uri="{D42A27DB-BD31-4B8C-83A1-F6EECF244321}">
                <p14:modId xmlns:p14="http://schemas.microsoft.com/office/powerpoint/2010/main" val="2827034329"/>
              </p:ext>
            </p:extLst>
          </p:nvPr>
        </p:nvGraphicFramePr>
        <p:xfrm>
          <a:off x="290215" y="850717"/>
          <a:ext cx="8555758" cy="3447282"/>
        </p:xfrm>
        <a:graphic>
          <a:graphicData uri="http://schemas.openxmlformats.org/drawingml/2006/table">
            <a:tbl>
              <a:tblPr firstRow="1" firstCol="1" bandRow="1">
                <a:tableStyleId>{5C22544A-7EE6-4342-B048-85BDC9FD1C3A}</a:tableStyleId>
              </a:tblPr>
              <a:tblGrid>
                <a:gridCol w="320422">
                  <a:extLst>
                    <a:ext uri="{9D8B030D-6E8A-4147-A177-3AD203B41FA5}">
                      <a16:colId xmlns:a16="http://schemas.microsoft.com/office/drawing/2014/main" val="2920937531"/>
                    </a:ext>
                  </a:extLst>
                </a:gridCol>
                <a:gridCol w="2418080">
                  <a:extLst>
                    <a:ext uri="{9D8B030D-6E8A-4147-A177-3AD203B41FA5}">
                      <a16:colId xmlns:a16="http://schemas.microsoft.com/office/drawing/2014/main" val="1930376215"/>
                    </a:ext>
                  </a:extLst>
                </a:gridCol>
                <a:gridCol w="696616">
                  <a:extLst>
                    <a:ext uri="{9D8B030D-6E8A-4147-A177-3AD203B41FA5}">
                      <a16:colId xmlns:a16="http://schemas.microsoft.com/office/drawing/2014/main" val="917577173"/>
                    </a:ext>
                  </a:extLst>
                </a:gridCol>
                <a:gridCol w="5120640">
                  <a:extLst>
                    <a:ext uri="{9D8B030D-6E8A-4147-A177-3AD203B41FA5}">
                      <a16:colId xmlns:a16="http://schemas.microsoft.com/office/drawing/2014/main" val="3832943451"/>
                    </a:ext>
                  </a:extLst>
                </a:gridCol>
              </a:tblGrid>
              <a:tr h="283464">
                <a:tc>
                  <a:txBody>
                    <a:bodyPr/>
                    <a:lstStyle/>
                    <a:p>
                      <a:pPr algn="ctr">
                        <a:spcBef>
                          <a:spcPts val="0"/>
                        </a:spcBef>
                        <a:spcAft>
                          <a:spcPts val="0"/>
                        </a:spcAft>
                        <a:buNone/>
                      </a:pPr>
                      <a:r>
                        <a:rPr lang="en-IN" sz="919" b="1" dirty="0">
                          <a:ln>
                            <a:noFill/>
                          </a:ln>
                          <a:solidFill>
                            <a:srgbClr val="FFFFFF"/>
                          </a:solidFill>
                          <a:effectLst/>
                          <a:latin typeface="Calibri"/>
                        </a:rPr>
                        <a:t>Sr.</a:t>
                      </a:r>
                      <a:endParaRPr lang="en-IN" sz="900" dirty="0">
                        <a:ln>
                          <a:noFill/>
                        </a:ln>
                        <a:solidFill>
                          <a:schemeClr val="tx1"/>
                        </a:solidFill>
                        <a:effectLst/>
                        <a:latin typeface="+mn-lt"/>
                        <a:ea typeface="Aptos" panose="020B0004020202020204" pitchFamily="34" charset="0"/>
                      </a:endParaRPr>
                    </a:p>
                  </a:txBody>
                  <a:tcPr marL="36576" marR="64008" marT="22860" marB="22860" anchor="ctr">
                    <a:solidFill>
                      <a:srgbClr val="0B2344"/>
                    </a:solidFill>
                  </a:tcPr>
                </a:tc>
                <a:tc>
                  <a:txBody>
                    <a:bodyPr/>
                    <a:lstStyle/>
                    <a:p>
                      <a:pPr algn="l">
                        <a:spcBef>
                          <a:spcPts val="0"/>
                        </a:spcBef>
                        <a:spcAft>
                          <a:spcPts val="0"/>
                        </a:spcAft>
                        <a:buNone/>
                      </a:pPr>
                      <a:r>
                        <a:rPr lang="en-IN" sz="919" b="1" dirty="0">
                          <a:ln>
                            <a:noFill/>
                          </a:ln>
                          <a:solidFill>
                            <a:srgbClr val="FFFFFF"/>
                          </a:solidFill>
                          <a:effectLst/>
                          <a:latin typeface="Calibri"/>
                        </a:rPr>
                        <a:t>Issue / Request</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0B2344"/>
                    </a:solidFill>
                  </a:tcPr>
                </a:tc>
                <a:tc>
                  <a:txBody>
                    <a:bodyPr/>
                    <a:lstStyle/>
                    <a:p>
                      <a:pPr algn="ctr">
                        <a:spcBef>
                          <a:spcPts val="0"/>
                        </a:spcBef>
                        <a:spcAft>
                          <a:spcPts val="0"/>
                        </a:spcAft>
                        <a:buNone/>
                      </a:pPr>
                      <a:r>
                        <a:rPr lang="en-IN" sz="919" b="1" dirty="0">
                          <a:ln>
                            <a:noFill/>
                          </a:ln>
                          <a:solidFill>
                            <a:srgbClr val="FFFFFF"/>
                          </a:solidFill>
                          <a:effectLst/>
                          <a:latin typeface="Calibri"/>
                        </a:rPr>
                        <a:t>Status</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0B2344"/>
                    </a:solidFill>
                  </a:tcPr>
                </a:tc>
                <a:tc>
                  <a:txBody>
                    <a:bodyPr/>
                    <a:lstStyle/>
                    <a:p>
                      <a:pPr algn="l">
                        <a:spcBef>
                          <a:spcPts val="0"/>
                        </a:spcBef>
                        <a:spcAft>
                          <a:spcPts val="0"/>
                        </a:spcAft>
                        <a:buNone/>
                      </a:pPr>
                      <a:r>
                        <a:rPr lang="en-IN" sz="919" b="1" dirty="0">
                          <a:ln>
                            <a:noFill/>
                          </a:ln>
                          <a:solidFill>
                            <a:srgbClr val="FFFFFF"/>
                          </a:solidFill>
                          <a:effectLst/>
                          <a:latin typeface="Calibri"/>
                        </a:rPr>
                        <a:t>Comments</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0B2344"/>
                    </a:solidFill>
                  </a:tcPr>
                </a:tc>
                <a:extLst>
                  <a:ext uri="{0D108BD9-81ED-4DB2-BD59-A6C34878D82A}">
                    <a16:rowId xmlns:a16="http://schemas.microsoft.com/office/drawing/2014/main" val="2114874059"/>
                  </a:ext>
                </a:extLst>
              </a:tr>
              <a:tr h="260603">
                <a:tc>
                  <a:txBody>
                    <a:bodyPr/>
                    <a:lstStyle/>
                    <a:p>
                      <a:pPr algn="ctr">
                        <a:spcBef>
                          <a:spcPts val="0"/>
                        </a:spcBef>
                        <a:spcAft>
                          <a:spcPts val="0"/>
                        </a:spcAft>
                        <a:buNone/>
                      </a:pPr>
                      <a:r>
                        <a:rPr lang="en-IN" sz="900" b="0" dirty="0">
                          <a:ln>
                            <a:noFill/>
                          </a:ln>
                          <a:solidFill>
                            <a:srgbClr val="243142"/>
                          </a:solidFill>
                          <a:effectLst/>
                          <a:latin typeface="Calibri"/>
                        </a:rPr>
                        <a:t>1</a:t>
                      </a:r>
                      <a:endParaRPr lang="en-IN" sz="900" dirty="0">
                        <a:ln>
                          <a:noFill/>
                        </a:ln>
                        <a:solidFill>
                          <a:schemeClr val="tx1"/>
                        </a:solidFill>
                        <a:effectLst/>
                        <a:latin typeface="+mn-lt"/>
                        <a:ea typeface="Aptos" panose="020B0004020202020204" pitchFamily="34" charset="0"/>
                      </a:endParaRPr>
                    </a:p>
                  </a:txBody>
                  <a:tcPr marL="36576" marR="64008" marT="22860" marB="22860" anchor="ctr">
                    <a:solidFill>
                      <a:srgbClr val="FFFFFF"/>
                    </a:solidFill>
                  </a:tcPr>
                </a:tc>
                <a:tc>
                  <a:txBody>
                    <a:bodyPr/>
                    <a:lstStyle/>
                    <a:p>
                      <a:pPr algn="l">
                        <a:spcBef>
                          <a:spcPts val="0"/>
                        </a:spcBef>
                        <a:spcAft>
                          <a:spcPts val="0"/>
                        </a:spcAft>
                        <a:buNone/>
                      </a:pPr>
                      <a:r>
                        <a:rPr lang="en-IN" sz="900" b="0" dirty="0">
                          <a:ln>
                            <a:noFill/>
                          </a:ln>
                          <a:solidFill>
                            <a:srgbClr val="243142"/>
                          </a:solidFill>
                          <a:effectLst/>
                          <a:latin typeface="Calibri"/>
                        </a:rPr>
                        <a:t>Some records are not appearing in report ZGSTR2 &amp; ZGSTR1</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FFFFFF"/>
                    </a:solidFill>
                  </a:tcPr>
                </a:tc>
                <a:tc>
                  <a:txBody>
                    <a:bodyPr/>
                    <a:lstStyle/>
                    <a:p>
                      <a:pPr algn="ctr">
                        <a:spcBef>
                          <a:spcPts val="0"/>
                        </a:spcBef>
                        <a:spcAft>
                          <a:spcPts val="0"/>
                        </a:spcAft>
                        <a:buNone/>
                      </a:pPr>
                      <a:r>
                        <a:rPr lang="en-IN" sz="900" b="1" dirty="0">
                          <a:ln>
                            <a:noFill/>
                          </a:ln>
                          <a:solidFill>
                            <a:srgbClr val="876314"/>
                          </a:solidFill>
                          <a:effectLst/>
                          <a:latin typeface="Calibri"/>
                        </a:rPr>
                        <a:t>UAT</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chemeClr val="accent4">
                        <a:lumMod val="20000"/>
                        <a:lumOff val="80000"/>
                      </a:schemeClr>
                    </a:solidFill>
                  </a:tcPr>
                </a:tc>
                <a:tc>
                  <a:txBody>
                    <a:bodyPr/>
                    <a:lstStyle/>
                    <a:p>
                      <a:pPr algn="l">
                        <a:spcBef>
                          <a:spcPts val="0"/>
                        </a:spcBef>
                        <a:spcAft>
                          <a:spcPts val="0"/>
                        </a:spcAft>
                        <a:buNone/>
                      </a:pPr>
                      <a:r>
                        <a:rPr lang="en-IN" sz="900" b="0" dirty="0">
                          <a:ln>
                            <a:noFill/>
                          </a:ln>
                          <a:solidFill>
                            <a:srgbClr val="243142"/>
                          </a:solidFill>
                          <a:effectLst/>
                          <a:latin typeface="Calibri"/>
                        </a:rPr>
                        <a:t>Changes have been carried out and moved to QA for User testing.</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FFFFFF"/>
                    </a:solidFill>
                  </a:tcPr>
                </a:tc>
                <a:extLst>
                  <a:ext uri="{0D108BD9-81ED-4DB2-BD59-A6C34878D82A}">
                    <a16:rowId xmlns:a16="http://schemas.microsoft.com/office/drawing/2014/main" val="3167436425"/>
                  </a:ext>
                </a:extLst>
              </a:tr>
              <a:tr h="260603">
                <a:tc>
                  <a:txBody>
                    <a:bodyPr/>
                    <a:lstStyle/>
                    <a:p>
                      <a:pPr algn="ctr">
                        <a:spcBef>
                          <a:spcPts val="0"/>
                        </a:spcBef>
                        <a:spcAft>
                          <a:spcPts val="0"/>
                        </a:spcAft>
                        <a:buNone/>
                      </a:pPr>
                      <a:r>
                        <a:rPr lang="en-IN" sz="900" b="0">
                          <a:ln>
                            <a:noFill/>
                          </a:ln>
                          <a:solidFill>
                            <a:srgbClr val="243142"/>
                          </a:solidFill>
                          <a:effectLst/>
                          <a:latin typeface="Calibri"/>
                        </a:rPr>
                        <a:t>2</a:t>
                      </a:r>
                      <a:endParaRPr lang="en-IN" sz="900">
                        <a:ln>
                          <a:noFill/>
                        </a:ln>
                        <a:solidFill>
                          <a:schemeClr val="tx1"/>
                        </a:solidFill>
                        <a:effectLst/>
                        <a:latin typeface="+mn-lt"/>
                        <a:ea typeface="Aptos" panose="020B0004020202020204" pitchFamily="34" charset="0"/>
                      </a:endParaRPr>
                    </a:p>
                  </a:txBody>
                  <a:tcPr marL="36576" marR="64008" marT="22860" marB="22860" anchor="ctr">
                    <a:solidFill>
                      <a:srgbClr val="F5F7FA"/>
                    </a:solidFill>
                  </a:tcPr>
                </a:tc>
                <a:tc>
                  <a:txBody>
                    <a:bodyPr/>
                    <a:lstStyle/>
                    <a:p>
                      <a:pPr algn="l">
                        <a:spcBef>
                          <a:spcPts val="0"/>
                        </a:spcBef>
                        <a:spcAft>
                          <a:spcPts val="0"/>
                        </a:spcAft>
                        <a:buNone/>
                      </a:pPr>
                      <a:r>
                        <a:rPr lang="en-IN" sz="900" b="0" dirty="0">
                          <a:ln>
                            <a:noFill/>
                          </a:ln>
                          <a:solidFill>
                            <a:srgbClr val="243142"/>
                          </a:solidFill>
                          <a:effectLst/>
                          <a:latin typeface="Calibri"/>
                        </a:rPr>
                        <a:t>Auto posting of rent on monthly basis</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F5F7FA"/>
                    </a:solidFill>
                  </a:tcPr>
                </a:tc>
                <a:tc>
                  <a:txBody>
                    <a:bodyPr/>
                    <a:lstStyle/>
                    <a:p>
                      <a:pPr marL="0" algn="ctr" defTabSz="914400" rtl="0" eaLnBrk="1" latinLnBrk="0" hangingPunct="1">
                        <a:spcBef>
                          <a:spcPts val="0"/>
                        </a:spcBef>
                        <a:spcAft>
                          <a:spcPts val="0"/>
                        </a:spcAft>
                        <a:buNone/>
                      </a:pPr>
                      <a:r>
                        <a:rPr lang="en-IN" sz="900" b="1" kern="1200" dirty="0">
                          <a:ln>
                            <a:noFill/>
                          </a:ln>
                          <a:solidFill>
                            <a:srgbClr val="876314"/>
                          </a:solidFill>
                          <a:effectLst/>
                          <a:latin typeface="Calibri"/>
                          <a:ea typeface="+mn-ea"/>
                          <a:cs typeface="+mn-cs"/>
                        </a:rPr>
                        <a:t>UAT</a:t>
                      </a:r>
                    </a:p>
                  </a:txBody>
                  <a:tcPr marL="73152" marR="64008" marT="22860" marB="22860" anchor="ctr">
                    <a:solidFill>
                      <a:schemeClr val="accent4">
                        <a:lumMod val="20000"/>
                        <a:lumOff val="80000"/>
                      </a:schemeClr>
                    </a:solidFill>
                  </a:tcPr>
                </a:tc>
                <a:tc>
                  <a:txBody>
                    <a:bodyPr/>
                    <a:lstStyle/>
                    <a:p>
                      <a:pPr algn="l">
                        <a:spcBef>
                          <a:spcPts val="0"/>
                        </a:spcBef>
                        <a:spcAft>
                          <a:spcPts val="0"/>
                        </a:spcAft>
                        <a:buNone/>
                      </a:pPr>
                      <a:r>
                        <a:rPr lang="en-IN" sz="900" b="0" dirty="0">
                          <a:ln>
                            <a:noFill/>
                          </a:ln>
                          <a:solidFill>
                            <a:srgbClr val="243142"/>
                          </a:solidFill>
                          <a:effectLst/>
                          <a:latin typeface="Calibri"/>
                        </a:rPr>
                        <a:t>Demo to business user(s) conducted and documentation shared. GST to be added in Rent Payment to be checked. </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F5F7FA"/>
                    </a:solidFill>
                  </a:tcPr>
                </a:tc>
                <a:extLst>
                  <a:ext uri="{0D108BD9-81ED-4DB2-BD59-A6C34878D82A}">
                    <a16:rowId xmlns:a16="http://schemas.microsoft.com/office/drawing/2014/main" val="3168664789"/>
                  </a:ext>
                </a:extLst>
              </a:tr>
              <a:tr h="260603">
                <a:tc>
                  <a:txBody>
                    <a:bodyPr/>
                    <a:lstStyle/>
                    <a:p>
                      <a:pPr algn="ctr">
                        <a:spcBef>
                          <a:spcPts val="0"/>
                        </a:spcBef>
                        <a:spcAft>
                          <a:spcPts val="0"/>
                        </a:spcAft>
                        <a:buNone/>
                      </a:pPr>
                      <a:r>
                        <a:rPr lang="en-IN" sz="900" b="0">
                          <a:ln>
                            <a:noFill/>
                          </a:ln>
                          <a:solidFill>
                            <a:srgbClr val="243142"/>
                          </a:solidFill>
                          <a:effectLst/>
                          <a:latin typeface="Calibri"/>
                        </a:rPr>
                        <a:t>3</a:t>
                      </a:r>
                      <a:endParaRPr lang="en-IN" sz="900">
                        <a:ln>
                          <a:noFill/>
                        </a:ln>
                        <a:solidFill>
                          <a:schemeClr val="tx1"/>
                        </a:solidFill>
                        <a:effectLst/>
                        <a:latin typeface="+mn-lt"/>
                        <a:ea typeface="Aptos" panose="020B0004020202020204" pitchFamily="34" charset="0"/>
                      </a:endParaRPr>
                    </a:p>
                  </a:txBody>
                  <a:tcPr marL="36576" marR="64008" marT="22860" marB="22860" anchor="ctr">
                    <a:solidFill>
                      <a:srgbClr val="FFFFFF"/>
                    </a:solidFill>
                  </a:tcPr>
                </a:tc>
                <a:tc>
                  <a:txBody>
                    <a:bodyPr/>
                    <a:lstStyle/>
                    <a:p>
                      <a:pPr algn="l">
                        <a:spcBef>
                          <a:spcPts val="0"/>
                        </a:spcBef>
                        <a:spcAft>
                          <a:spcPts val="0"/>
                        </a:spcAft>
                        <a:buNone/>
                      </a:pPr>
                      <a:r>
                        <a:rPr lang="en-IN" sz="900" b="0" dirty="0">
                          <a:ln>
                            <a:noFill/>
                          </a:ln>
                          <a:solidFill>
                            <a:srgbClr val="243142"/>
                          </a:solidFill>
                          <a:effectLst/>
                          <a:latin typeface="Calibri"/>
                        </a:rPr>
                        <a:t>Memo JV Posting (CO Posting) </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FFFFFF"/>
                    </a:solidFill>
                  </a:tcPr>
                </a:tc>
                <a:tc>
                  <a:txBody>
                    <a:bodyPr/>
                    <a:lstStyle/>
                    <a:p>
                      <a:pPr algn="ctr">
                        <a:spcBef>
                          <a:spcPts val="0"/>
                        </a:spcBef>
                        <a:spcAft>
                          <a:spcPts val="0"/>
                        </a:spcAft>
                        <a:buNone/>
                      </a:pPr>
                      <a:r>
                        <a:rPr lang="en-IN" sz="900" b="1" dirty="0">
                          <a:ln>
                            <a:noFill/>
                          </a:ln>
                          <a:solidFill>
                            <a:srgbClr val="876314"/>
                          </a:solidFill>
                          <a:effectLst/>
                          <a:latin typeface="Calibri"/>
                        </a:rPr>
                        <a:t>UAT</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chemeClr val="accent4">
                        <a:lumMod val="20000"/>
                        <a:lumOff val="80000"/>
                      </a:schemeClr>
                    </a:solidFill>
                  </a:tcPr>
                </a:tc>
                <a:tc>
                  <a:txBody>
                    <a:bodyPr/>
                    <a:lstStyle/>
                    <a:p>
                      <a:pPr algn="l">
                        <a:spcBef>
                          <a:spcPts val="0"/>
                        </a:spcBef>
                        <a:spcAft>
                          <a:spcPts val="0"/>
                        </a:spcAft>
                        <a:buNone/>
                      </a:pPr>
                      <a:r>
                        <a:rPr lang="en-IN" sz="900" b="0" dirty="0">
                          <a:ln>
                            <a:noFill/>
                          </a:ln>
                          <a:solidFill>
                            <a:srgbClr val="243142"/>
                          </a:solidFill>
                          <a:effectLst/>
                          <a:latin typeface="Calibri"/>
                        </a:rPr>
                        <a:t>Demo completed; awaiting Excel upload format from the user to finalize changes.</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FFFFFF"/>
                    </a:solidFill>
                  </a:tcPr>
                </a:tc>
                <a:extLst>
                  <a:ext uri="{0D108BD9-81ED-4DB2-BD59-A6C34878D82A}">
                    <a16:rowId xmlns:a16="http://schemas.microsoft.com/office/drawing/2014/main" val="3753442558"/>
                  </a:ext>
                </a:extLst>
              </a:tr>
              <a:tr h="260603">
                <a:tc>
                  <a:txBody>
                    <a:bodyPr/>
                    <a:lstStyle/>
                    <a:p>
                      <a:pPr algn="ctr">
                        <a:spcBef>
                          <a:spcPts val="0"/>
                        </a:spcBef>
                        <a:spcAft>
                          <a:spcPts val="0"/>
                        </a:spcAft>
                        <a:buNone/>
                      </a:pPr>
                      <a:r>
                        <a:rPr lang="en-IN" sz="900" b="0">
                          <a:ln>
                            <a:noFill/>
                          </a:ln>
                          <a:solidFill>
                            <a:srgbClr val="243142"/>
                          </a:solidFill>
                          <a:effectLst/>
                          <a:latin typeface="Calibri"/>
                        </a:rPr>
                        <a:t>4</a:t>
                      </a:r>
                      <a:endParaRPr lang="en-IN" sz="900">
                        <a:ln>
                          <a:noFill/>
                        </a:ln>
                        <a:solidFill>
                          <a:schemeClr val="tx1"/>
                        </a:solidFill>
                        <a:effectLst/>
                        <a:latin typeface="+mn-lt"/>
                        <a:ea typeface="Aptos" panose="020B0004020202020204" pitchFamily="34" charset="0"/>
                      </a:endParaRPr>
                    </a:p>
                  </a:txBody>
                  <a:tcPr marL="36576" marR="64008" marT="22860" marB="22860" anchor="ctr">
                    <a:solidFill>
                      <a:srgbClr val="F5F7FA"/>
                    </a:solidFill>
                  </a:tcPr>
                </a:tc>
                <a:tc>
                  <a:txBody>
                    <a:bodyPr/>
                    <a:lstStyle/>
                    <a:p>
                      <a:pPr algn="l">
                        <a:spcBef>
                          <a:spcPts val="0"/>
                        </a:spcBef>
                        <a:spcAft>
                          <a:spcPts val="0"/>
                        </a:spcAft>
                        <a:buNone/>
                      </a:pPr>
                      <a:r>
                        <a:rPr lang="en-IN" sz="900" b="0" dirty="0">
                          <a:ln>
                            <a:noFill/>
                          </a:ln>
                          <a:solidFill>
                            <a:srgbClr val="243142"/>
                          </a:solidFill>
                          <a:effectLst/>
                          <a:latin typeface="Calibri"/>
                        </a:rPr>
                        <a:t>Chart of Accounts short text correction for some items</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F5F7FA"/>
                    </a:solidFill>
                  </a:tcPr>
                </a:tc>
                <a:tc>
                  <a:txBody>
                    <a:bodyPr/>
                    <a:lstStyle/>
                    <a:p>
                      <a:pPr algn="ctr">
                        <a:spcBef>
                          <a:spcPts val="0"/>
                        </a:spcBef>
                        <a:spcAft>
                          <a:spcPts val="0"/>
                        </a:spcAft>
                        <a:buNone/>
                      </a:pPr>
                      <a:r>
                        <a:rPr lang="en-IN" sz="900" b="1" dirty="0">
                          <a:ln>
                            <a:noFill/>
                          </a:ln>
                          <a:solidFill>
                            <a:srgbClr val="536275"/>
                          </a:solidFill>
                          <a:effectLst/>
                          <a:latin typeface="Calibri"/>
                        </a:rPr>
                        <a:t>YTS</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EDF0F4"/>
                    </a:solidFill>
                  </a:tcPr>
                </a:tc>
                <a:tc>
                  <a:txBody>
                    <a:bodyPr/>
                    <a:lstStyle/>
                    <a:p>
                      <a:pPr algn="l">
                        <a:spcBef>
                          <a:spcPts val="0"/>
                        </a:spcBef>
                        <a:spcAft>
                          <a:spcPts val="0"/>
                        </a:spcAft>
                        <a:buNone/>
                      </a:pPr>
                      <a:r>
                        <a:rPr lang="en-US" sz="900" b="0" dirty="0">
                          <a:ln>
                            <a:noFill/>
                          </a:ln>
                          <a:solidFill>
                            <a:srgbClr val="243142"/>
                          </a:solidFill>
                          <a:effectLst/>
                          <a:latin typeface="Calibri"/>
                        </a:rPr>
                        <a:t>A</a:t>
                      </a:r>
                      <a:r>
                        <a:rPr lang="en-IN" sz="900" b="0" dirty="0">
                          <a:ln>
                            <a:noFill/>
                          </a:ln>
                          <a:solidFill>
                            <a:srgbClr val="243142"/>
                          </a:solidFill>
                          <a:effectLst/>
                          <a:latin typeface="Calibri"/>
                        </a:rPr>
                        <a:t>waiting inputs from Business user on GL codes for which the description needs change. </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F5F7FA"/>
                    </a:solidFill>
                  </a:tcPr>
                </a:tc>
                <a:extLst>
                  <a:ext uri="{0D108BD9-81ED-4DB2-BD59-A6C34878D82A}">
                    <a16:rowId xmlns:a16="http://schemas.microsoft.com/office/drawing/2014/main" val="4189534292"/>
                  </a:ext>
                </a:extLst>
              </a:tr>
              <a:tr h="260603">
                <a:tc>
                  <a:txBody>
                    <a:bodyPr/>
                    <a:lstStyle/>
                    <a:p>
                      <a:pPr algn="ctr">
                        <a:spcBef>
                          <a:spcPts val="0"/>
                        </a:spcBef>
                        <a:spcAft>
                          <a:spcPts val="0"/>
                        </a:spcAft>
                        <a:buNone/>
                      </a:pPr>
                      <a:r>
                        <a:rPr lang="en-IN" sz="900" b="0">
                          <a:ln>
                            <a:noFill/>
                          </a:ln>
                          <a:solidFill>
                            <a:srgbClr val="243142"/>
                          </a:solidFill>
                          <a:effectLst/>
                          <a:latin typeface="Calibri"/>
                        </a:rPr>
                        <a:t>5</a:t>
                      </a:r>
                      <a:endParaRPr lang="en-IN" sz="900">
                        <a:ln>
                          <a:noFill/>
                        </a:ln>
                        <a:solidFill>
                          <a:schemeClr val="tx1"/>
                        </a:solidFill>
                        <a:effectLst/>
                        <a:latin typeface="+mn-lt"/>
                        <a:ea typeface="Aptos" panose="020B0004020202020204" pitchFamily="34" charset="0"/>
                      </a:endParaRPr>
                    </a:p>
                  </a:txBody>
                  <a:tcPr marL="36576" marR="64008" marT="22860" marB="22860" anchor="ctr">
                    <a:solidFill>
                      <a:srgbClr val="FFFFFF"/>
                    </a:solidFill>
                  </a:tcPr>
                </a:tc>
                <a:tc>
                  <a:txBody>
                    <a:bodyPr/>
                    <a:lstStyle/>
                    <a:p>
                      <a:pPr algn="l">
                        <a:spcBef>
                          <a:spcPts val="0"/>
                        </a:spcBef>
                        <a:spcAft>
                          <a:spcPts val="0"/>
                        </a:spcAft>
                        <a:buNone/>
                      </a:pPr>
                      <a:r>
                        <a:rPr lang="en-IN" sz="900" b="0" dirty="0">
                          <a:ln>
                            <a:noFill/>
                          </a:ln>
                          <a:solidFill>
                            <a:srgbClr val="243142"/>
                          </a:solidFill>
                          <a:effectLst/>
                          <a:latin typeface="Calibri"/>
                        </a:rPr>
                        <a:t>Profit Centre Division wise Report / Segment Reporting</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FFFFFF"/>
                    </a:solidFill>
                  </a:tcPr>
                </a:tc>
                <a:tc>
                  <a:txBody>
                    <a:bodyPr/>
                    <a:lstStyle/>
                    <a:p>
                      <a:pPr algn="ctr">
                        <a:spcBef>
                          <a:spcPts val="0"/>
                        </a:spcBef>
                        <a:spcAft>
                          <a:spcPts val="0"/>
                        </a:spcAft>
                        <a:buNone/>
                      </a:pPr>
                      <a:r>
                        <a:rPr lang="en-IN" sz="900" b="1" dirty="0">
                          <a:ln>
                            <a:noFill/>
                          </a:ln>
                          <a:solidFill>
                            <a:srgbClr val="235282"/>
                          </a:solidFill>
                          <a:effectLst/>
                          <a:latin typeface="Calibri"/>
                        </a:rPr>
                        <a:t>WIP</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chemeClr val="accent1">
                        <a:lumMod val="20000"/>
                        <a:lumOff val="80000"/>
                      </a:schemeClr>
                    </a:solidFill>
                  </a:tcPr>
                </a:tc>
                <a:tc>
                  <a:txBody>
                    <a:bodyPr/>
                    <a:lstStyle/>
                    <a:p>
                      <a:pPr algn="l">
                        <a:spcBef>
                          <a:spcPts val="0"/>
                        </a:spcBef>
                        <a:spcAft>
                          <a:spcPts val="0"/>
                        </a:spcAft>
                        <a:buNone/>
                      </a:pPr>
                      <a:r>
                        <a:rPr lang="en-IN" sz="900" b="0" dirty="0">
                          <a:ln>
                            <a:noFill/>
                          </a:ln>
                          <a:solidFill>
                            <a:srgbClr val="243142"/>
                          </a:solidFill>
                          <a:effectLst/>
                          <a:latin typeface="Calibri"/>
                        </a:rPr>
                        <a:t>Report completed on Group wise, Business further requires sub division wise report which is in progress</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FFFFFF"/>
                    </a:solidFill>
                  </a:tcPr>
                </a:tc>
                <a:extLst>
                  <a:ext uri="{0D108BD9-81ED-4DB2-BD59-A6C34878D82A}">
                    <a16:rowId xmlns:a16="http://schemas.microsoft.com/office/drawing/2014/main" val="812421267"/>
                  </a:ext>
                </a:extLst>
              </a:tr>
              <a:tr h="260603">
                <a:tc>
                  <a:txBody>
                    <a:bodyPr/>
                    <a:lstStyle/>
                    <a:p>
                      <a:pPr algn="ctr">
                        <a:spcBef>
                          <a:spcPts val="0"/>
                        </a:spcBef>
                        <a:spcAft>
                          <a:spcPts val="0"/>
                        </a:spcAft>
                        <a:buNone/>
                      </a:pPr>
                      <a:r>
                        <a:rPr lang="en-IN" sz="900" b="0">
                          <a:ln>
                            <a:noFill/>
                          </a:ln>
                          <a:solidFill>
                            <a:srgbClr val="243142"/>
                          </a:solidFill>
                          <a:effectLst/>
                          <a:latin typeface="Calibri"/>
                        </a:rPr>
                        <a:t>6</a:t>
                      </a:r>
                      <a:endParaRPr lang="en-IN" sz="900">
                        <a:ln>
                          <a:noFill/>
                        </a:ln>
                        <a:solidFill>
                          <a:schemeClr val="tx1"/>
                        </a:solidFill>
                        <a:effectLst/>
                        <a:latin typeface="+mn-lt"/>
                        <a:ea typeface="Aptos" panose="020B0004020202020204" pitchFamily="34" charset="0"/>
                      </a:endParaRPr>
                    </a:p>
                  </a:txBody>
                  <a:tcPr marL="36576" marR="64008" marT="22860" marB="22860" anchor="ctr">
                    <a:solidFill>
                      <a:srgbClr val="F5F7FA"/>
                    </a:solidFill>
                  </a:tcPr>
                </a:tc>
                <a:tc>
                  <a:txBody>
                    <a:bodyPr/>
                    <a:lstStyle/>
                    <a:p>
                      <a:pPr algn="l">
                        <a:spcBef>
                          <a:spcPts val="0"/>
                        </a:spcBef>
                        <a:spcAft>
                          <a:spcPts val="0"/>
                        </a:spcAft>
                        <a:buNone/>
                      </a:pPr>
                      <a:r>
                        <a:rPr lang="en-IN" sz="900" b="0" dirty="0">
                          <a:ln>
                            <a:noFill/>
                          </a:ln>
                          <a:solidFill>
                            <a:srgbClr val="243142"/>
                          </a:solidFill>
                          <a:effectLst/>
                          <a:latin typeface="Calibri"/>
                        </a:rPr>
                        <a:t>Intercompany Bank Transaction</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F5F7FA"/>
                    </a:solidFill>
                  </a:tcPr>
                </a:tc>
                <a:tc>
                  <a:txBody>
                    <a:bodyPr/>
                    <a:lstStyle/>
                    <a:p>
                      <a:pPr algn="ctr">
                        <a:spcBef>
                          <a:spcPts val="0"/>
                        </a:spcBef>
                        <a:spcAft>
                          <a:spcPts val="0"/>
                        </a:spcAft>
                        <a:buNone/>
                      </a:pPr>
                      <a:r>
                        <a:rPr lang="en-IN" sz="900" b="1" dirty="0">
                          <a:ln>
                            <a:noFill/>
                          </a:ln>
                          <a:solidFill>
                            <a:srgbClr val="876314"/>
                          </a:solidFill>
                          <a:effectLst/>
                          <a:latin typeface="Calibri"/>
                        </a:rPr>
                        <a:t>UAT</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chemeClr val="accent4">
                        <a:lumMod val="20000"/>
                        <a:lumOff val="80000"/>
                      </a:schemeClr>
                    </a:solidFill>
                  </a:tcPr>
                </a:tc>
                <a:tc>
                  <a:txBody>
                    <a:bodyPr/>
                    <a:lstStyle/>
                    <a:p>
                      <a:pPr algn="l">
                        <a:spcBef>
                          <a:spcPts val="0"/>
                        </a:spcBef>
                        <a:spcAft>
                          <a:spcPts val="0"/>
                        </a:spcAft>
                        <a:buNone/>
                      </a:pPr>
                      <a:r>
                        <a:rPr lang="en-US" sz="900" b="0" dirty="0">
                          <a:ln>
                            <a:noFill/>
                          </a:ln>
                          <a:solidFill>
                            <a:srgbClr val="243142"/>
                          </a:solidFill>
                          <a:effectLst/>
                          <a:latin typeface="Calibri"/>
                        </a:rPr>
                        <a:t>T</a:t>
                      </a:r>
                      <a:r>
                        <a:rPr lang="en-IN" sz="900" b="0" dirty="0">
                          <a:ln>
                            <a:noFill/>
                          </a:ln>
                          <a:solidFill>
                            <a:srgbClr val="243142"/>
                          </a:solidFill>
                          <a:effectLst/>
                          <a:latin typeface="Calibri"/>
                        </a:rPr>
                        <a:t>he configuration is completed and moved to QA for User Testing</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F5F7FA"/>
                    </a:solidFill>
                  </a:tcPr>
                </a:tc>
                <a:extLst>
                  <a:ext uri="{0D108BD9-81ED-4DB2-BD59-A6C34878D82A}">
                    <a16:rowId xmlns:a16="http://schemas.microsoft.com/office/drawing/2014/main" val="3921312964"/>
                  </a:ext>
                </a:extLst>
              </a:tr>
              <a:tr h="260603">
                <a:tc>
                  <a:txBody>
                    <a:bodyPr/>
                    <a:lstStyle/>
                    <a:p>
                      <a:pPr algn="ctr">
                        <a:spcBef>
                          <a:spcPts val="0"/>
                        </a:spcBef>
                        <a:spcAft>
                          <a:spcPts val="0"/>
                        </a:spcAft>
                        <a:buNone/>
                      </a:pPr>
                      <a:r>
                        <a:rPr lang="en-IN" sz="900" b="0" dirty="0">
                          <a:ln>
                            <a:noFill/>
                          </a:ln>
                          <a:solidFill>
                            <a:srgbClr val="243142"/>
                          </a:solidFill>
                          <a:effectLst/>
                          <a:latin typeface="Calibri"/>
                        </a:rPr>
                        <a:t>7</a:t>
                      </a:r>
                      <a:endParaRPr lang="en-IN" sz="900" dirty="0">
                        <a:ln>
                          <a:noFill/>
                        </a:ln>
                        <a:solidFill>
                          <a:schemeClr val="tx1"/>
                        </a:solidFill>
                        <a:effectLst/>
                        <a:latin typeface="+mn-lt"/>
                        <a:ea typeface="Aptos" panose="020B0004020202020204" pitchFamily="34" charset="0"/>
                      </a:endParaRPr>
                    </a:p>
                  </a:txBody>
                  <a:tcPr marL="36576" marR="64008" marT="22860" marB="22860" anchor="ctr">
                    <a:solidFill>
                      <a:srgbClr val="FFFFFF"/>
                    </a:solidFill>
                  </a:tcPr>
                </a:tc>
                <a:tc>
                  <a:txBody>
                    <a:bodyPr/>
                    <a:lstStyle/>
                    <a:p>
                      <a:pPr algn="l">
                        <a:spcBef>
                          <a:spcPts val="0"/>
                        </a:spcBef>
                        <a:spcAft>
                          <a:spcPts val="0"/>
                        </a:spcAft>
                        <a:buNone/>
                      </a:pPr>
                      <a:r>
                        <a:rPr lang="en-IN" sz="900" b="0" dirty="0">
                          <a:ln>
                            <a:noFill/>
                          </a:ln>
                          <a:solidFill>
                            <a:srgbClr val="243142"/>
                          </a:solidFill>
                          <a:effectLst/>
                          <a:latin typeface="Calibri"/>
                        </a:rPr>
                        <a:t>Customer Clearing – FIFO basis </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FFFFFF"/>
                    </a:solidFill>
                  </a:tcPr>
                </a:tc>
                <a:tc>
                  <a:txBody>
                    <a:bodyPr/>
                    <a:lstStyle/>
                    <a:p>
                      <a:pPr algn="ctr">
                        <a:spcBef>
                          <a:spcPts val="0"/>
                        </a:spcBef>
                        <a:spcAft>
                          <a:spcPts val="0"/>
                        </a:spcAft>
                        <a:buNone/>
                      </a:pPr>
                      <a:r>
                        <a:rPr lang="en-IN" sz="900" b="1" dirty="0">
                          <a:ln>
                            <a:noFill/>
                          </a:ln>
                          <a:solidFill>
                            <a:srgbClr val="1E6841"/>
                          </a:solidFill>
                          <a:effectLst/>
                          <a:latin typeface="Calibri"/>
                        </a:rPr>
                        <a:t>Completed</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E2F2E9"/>
                    </a:solidFill>
                  </a:tcPr>
                </a:tc>
                <a:tc>
                  <a:txBody>
                    <a:bodyPr/>
                    <a:lstStyle/>
                    <a:p>
                      <a:pPr algn="l">
                        <a:spcBef>
                          <a:spcPts val="0"/>
                        </a:spcBef>
                        <a:spcAft>
                          <a:spcPts val="0"/>
                        </a:spcAft>
                        <a:buNone/>
                      </a:pPr>
                      <a:r>
                        <a:rPr lang="en-IN" sz="900" b="0" dirty="0">
                          <a:ln>
                            <a:noFill/>
                          </a:ln>
                          <a:solidFill>
                            <a:srgbClr val="243142"/>
                          </a:solidFill>
                          <a:effectLst/>
                          <a:latin typeface="Calibri"/>
                        </a:rPr>
                        <a:t>Detailed demonstration of process has been provided to user in production system. </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FFFFFF"/>
                    </a:solidFill>
                  </a:tcPr>
                </a:tc>
                <a:extLst>
                  <a:ext uri="{0D108BD9-81ED-4DB2-BD59-A6C34878D82A}">
                    <a16:rowId xmlns:a16="http://schemas.microsoft.com/office/drawing/2014/main" val="286057600"/>
                  </a:ext>
                </a:extLst>
              </a:tr>
              <a:tr h="260603">
                <a:tc>
                  <a:txBody>
                    <a:bodyPr/>
                    <a:lstStyle/>
                    <a:p>
                      <a:pPr algn="ctr">
                        <a:spcBef>
                          <a:spcPts val="0"/>
                        </a:spcBef>
                        <a:spcAft>
                          <a:spcPts val="0"/>
                        </a:spcAft>
                        <a:buNone/>
                      </a:pPr>
                      <a:r>
                        <a:rPr lang="en-IN" sz="900" b="0">
                          <a:ln>
                            <a:noFill/>
                          </a:ln>
                          <a:solidFill>
                            <a:srgbClr val="243142"/>
                          </a:solidFill>
                          <a:effectLst/>
                          <a:latin typeface="Calibri"/>
                        </a:rPr>
                        <a:t>8</a:t>
                      </a:r>
                      <a:endParaRPr lang="en-IN" sz="900">
                        <a:ln>
                          <a:noFill/>
                        </a:ln>
                        <a:solidFill>
                          <a:schemeClr val="tx1"/>
                        </a:solidFill>
                        <a:effectLst/>
                        <a:latin typeface="+mn-lt"/>
                        <a:ea typeface="Aptos" panose="020B0004020202020204" pitchFamily="34" charset="0"/>
                      </a:endParaRPr>
                    </a:p>
                  </a:txBody>
                  <a:tcPr marL="36576" marR="64008" marT="22860" marB="22860" anchor="ctr">
                    <a:solidFill>
                      <a:srgbClr val="F5F7FA"/>
                    </a:solidFill>
                  </a:tcPr>
                </a:tc>
                <a:tc>
                  <a:txBody>
                    <a:bodyPr/>
                    <a:lstStyle/>
                    <a:p>
                      <a:pPr algn="l">
                        <a:spcBef>
                          <a:spcPts val="0"/>
                        </a:spcBef>
                        <a:spcAft>
                          <a:spcPts val="0"/>
                        </a:spcAft>
                        <a:buNone/>
                      </a:pPr>
                      <a:r>
                        <a:rPr lang="en-IN" sz="900" b="0" dirty="0">
                          <a:ln>
                            <a:noFill/>
                          </a:ln>
                          <a:solidFill>
                            <a:srgbClr val="243142"/>
                          </a:solidFill>
                          <a:effectLst/>
                          <a:latin typeface="Calibri"/>
                        </a:rPr>
                        <a:t>Customer &amp; Vendor Ageing Reports</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F5F7FA"/>
                    </a:solidFill>
                  </a:tcPr>
                </a:tc>
                <a:tc>
                  <a:txBody>
                    <a:bodyPr/>
                    <a:lstStyle/>
                    <a:p>
                      <a:pPr algn="ctr">
                        <a:spcBef>
                          <a:spcPts val="0"/>
                        </a:spcBef>
                        <a:spcAft>
                          <a:spcPts val="0"/>
                        </a:spcAft>
                        <a:buNone/>
                      </a:pPr>
                      <a:r>
                        <a:rPr lang="en-IN" sz="900" b="1" dirty="0">
                          <a:ln>
                            <a:noFill/>
                          </a:ln>
                          <a:solidFill>
                            <a:srgbClr val="876314"/>
                          </a:solidFill>
                          <a:effectLst/>
                          <a:latin typeface="+mn-lt"/>
                        </a:rPr>
                        <a:t>UAT</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chemeClr val="accent4">
                        <a:lumMod val="20000"/>
                        <a:lumOff val="80000"/>
                      </a:schemeClr>
                    </a:solidFill>
                  </a:tcPr>
                </a:tc>
                <a:tc>
                  <a:txBody>
                    <a:bodyPr/>
                    <a:lstStyle/>
                    <a:p>
                      <a:pPr algn="l">
                        <a:spcBef>
                          <a:spcPts val="0"/>
                        </a:spcBef>
                        <a:spcAft>
                          <a:spcPts val="0"/>
                        </a:spcAft>
                        <a:buNone/>
                      </a:pPr>
                      <a:r>
                        <a:rPr lang="en-IN" sz="900" b="0" dirty="0">
                          <a:ln>
                            <a:noFill/>
                          </a:ln>
                          <a:solidFill>
                            <a:srgbClr val="243142"/>
                          </a:solidFill>
                          <a:effectLst/>
                          <a:latin typeface="Calibri"/>
                        </a:rPr>
                        <a:t>Development completed and moved to production for business use. Process of residual payment to be used to get the original posting date for calculation of Age for balance payments. </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F5F7FA"/>
                    </a:solidFill>
                  </a:tcPr>
                </a:tc>
                <a:extLst>
                  <a:ext uri="{0D108BD9-81ED-4DB2-BD59-A6C34878D82A}">
                    <a16:rowId xmlns:a16="http://schemas.microsoft.com/office/drawing/2014/main" val="105163558"/>
                  </a:ext>
                </a:extLst>
              </a:tr>
              <a:tr h="260603">
                <a:tc>
                  <a:txBody>
                    <a:bodyPr/>
                    <a:lstStyle/>
                    <a:p>
                      <a:pPr algn="ctr">
                        <a:spcBef>
                          <a:spcPts val="0"/>
                        </a:spcBef>
                        <a:spcAft>
                          <a:spcPts val="0"/>
                        </a:spcAft>
                        <a:buNone/>
                      </a:pPr>
                      <a:r>
                        <a:rPr lang="en-IN" sz="900" b="0" dirty="0">
                          <a:ln>
                            <a:noFill/>
                          </a:ln>
                          <a:solidFill>
                            <a:srgbClr val="243142"/>
                          </a:solidFill>
                          <a:effectLst/>
                          <a:latin typeface="Calibri"/>
                        </a:rPr>
                        <a:t>9</a:t>
                      </a:r>
                      <a:endParaRPr lang="en-IN" sz="900" dirty="0">
                        <a:ln>
                          <a:noFill/>
                        </a:ln>
                        <a:solidFill>
                          <a:schemeClr val="tx1"/>
                        </a:solidFill>
                        <a:effectLst/>
                        <a:latin typeface="+mn-lt"/>
                        <a:ea typeface="Aptos" panose="020B0004020202020204" pitchFamily="34" charset="0"/>
                      </a:endParaRPr>
                    </a:p>
                  </a:txBody>
                  <a:tcPr marL="36576" marR="64008" marT="22860" marB="22860" anchor="ctr">
                    <a:solidFill>
                      <a:srgbClr val="FFFFFF"/>
                    </a:solidFill>
                  </a:tcPr>
                </a:tc>
                <a:tc>
                  <a:txBody>
                    <a:bodyPr/>
                    <a:lstStyle/>
                    <a:p>
                      <a:pPr algn="l">
                        <a:spcBef>
                          <a:spcPts val="0"/>
                        </a:spcBef>
                        <a:spcAft>
                          <a:spcPts val="0"/>
                        </a:spcAft>
                        <a:buNone/>
                      </a:pPr>
                      <a:r>
                        <a:rPr lang="en-IN" sz="900" b="0" dirty="0">
                          <a:ln>
                            <a:noFill/>
                          </a:ln>
                          <a:solidFill>
                            <a:srgbClr val="243142"/>
                          </a:solidFill>
                          <a:effectLst/>
                          <a:latin typeface="Calibri"/>
                        </a:rPr>
                        <a:t>Segment Reporting</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FFFFFF"/>
                    </a:solidFill>
                  </a:tcPr>
                </a:tc>
                <a:tc>
                  <a:txBody>
                    <a:bodyPr/>
                    <a:lstStyle/>
                    <a:p>
                      <a:pPr algn="ctr">
                        <a:spcBef>
                          <a:spcPts val="0"/>
                        </a:spcBef>
                        <a:spcAft>
                          <a:spcPts val="0"/>
                        </a:spcAft>
                        <a:buNone/>
                      </a:pPr>
                      <a:r>
                        <a:rPr lang="en-IN" sz="900" b="1" dirty="0">
                          <a:ln>
                            <a:noFill/>
                          </a:ln>
                          <a:solidFill>
                            <a:srgbClr val="235282"/>
                          </a:solidFill>
                          <a:effectLst/>
                          <a:latin typeface="+mn-lt"/>
                        </a:rPr>
                        <a:t>WIP</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chemeClr val="accent1">
                        <a:lumMod val="20000"/>
                        <a:lumOff val="80000"/>
                      </a:schemeClr>
                    </a:solidFill>
                  </a:tcPr>
                </a:tc>
                <a:tc>
                  <a:txBody>
                    <a:bodyPr/>
                    <a:lstStyle/>
                    <a:p>
                      <a:pPr algn="l">
                        <a:spcBef>
                          <a:spcPts val="0"/>
                        </a:spcBef>
                        <a:spcAft>
                          <a:spcPts val="0"/>
                        </a:spcAft>
                        <a:buNone/>
                      </a:pPr>
                      <a:r>
                        <a:rPr lang="en-US" sz="900" b="0" dirty="0">
                          <a:ln>
                            <a:noFill/>
                          </a:ln>
                          <a:solidFill>
                            <a:srgbClr val="243142"/>
                          </a:solidFill>
                          <a:effectLst/>
                          <a:latin typeface="Calibri"/>
                          <a:ea typeface="Aptos" panose="020B0004020202020204" pitchFamily="34" charset="0"/>
                        </a:rPr>
                        <a:t>Report </a:t>
                      </a:r>
                      <a:r>
                        <a:rPr lang="en-IN" sz="900" b="0" dirty="0">
                          <a:ln>
                            <a:noFill/>
                          </a:ln>
                          <a:solidFill>
                            <a:srgbClr val="243142"/>
                          </a:solidFill>
                          <a:effectLst/>
                          <a:latin typeface="Calibri"/>
                          <a:ea typeface="Aptos" panose="020B0004020202020204" pitchFamily="34" charset="0"/>
                        </a:rPr>
                        <a:t>is completed for main group, currently working on sub division. </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FFFFFF"/>
                    </a:solidFill>
                  </a:tcPr>
                </a:tc>
                <a:extLst>
                  <a:ext uri="{0D108BD9-81ED-4DB2-BD59-A6C34878D82A}">
                    <a16:rowId xmlns:a16="http://schemas.microsoft.com/office/drawing/2014/main" val="3135936895"/>
                  </a:ext>
                </a:extLst>
              </a:tr>
              <a:tr h="260603">
                <a:tc>
                  <a:txBody>
                    <a:bodyPr/>
                    <a:lstStyle/>
                    <a:p>
                      <a:pPr algn="ctr">
                        <a:spcBef>
                          <a:spcPts val="0"/>
                        </a:spcBef>
                        <a:spcAft>
                          <a:spcPts val="0"/>
                        </a:spcAft>
                        <a:buNone/>
                      </a:pPr>
                      <a:r>
                        <a:rPr lang="en-US" sz="900" b="0" dirty="0">
                          <a:ln>
                            <a:noFill/>
                          </a:ln>
                          <a:solidFill>
                            <a:srgbClr val="243142"/>
                          </a:solidFill>
                          <a:effectLst/>
                          <a:latin typeface="Calibri"/>
                          <a:ea typeface="Aptos" panose="020B0004020202020204" pitchFamily="34" charset="0"/>
                        </a:rPr>
                        <a:t>10</a:t>
                      </a:r>
                      <a:endParaRPr lang="en-IN" sz="900" dirty="0">
                        <a:ln>
                          <a:noFill/>
                        </a:ln>
                        <a:solidFill>
                          <a:schemeClr val="tx1"/>
                        </a:solidFill>
                        <a:effectLst/>
                        <a:latin typeface="+mn-lt"/>
                        <a:ea typeface="Aptos" panose="020B0004020202020204" pitchFamily="34" charset="0"/>
                      </a:endParaRPr>
                    </a:p>
                  </a:txBody>
                  <a:tcPr marL="36576" marR="64008" marT="22860" marB="22860" anchor="ctr">
                    <a:solidFill>
                      <a:srgbClr val="F5F7FA"/>
                    </a:solidFill>
                  </a:tcPr>
                </a:tc>
                <a:tc>
                  <a:txBody>
                    <a:bodyPr/>
                    <a:lstStyle/>
                    <a:p>
                      <a:pPr algn="l">
                        <a:spcBef>
                          <a:spcPts val="0"/>
                        </a:spcBef>
                        <a:spcAft>
                          <a:spcPts val="0"/>
                        </a:spcAft>
                        <a:buNone/>
                      </a:pPr>
                      <a:r>
                        <a:rPr lang="en-US" sz="900" b="0" dirty="0">
                          <a:ln>
                            <a:noFill/>
                          </a:ln>
                          <a:solidFill>
                            <a:srgbClr val="243142"/>
                          </a:solidFill>
                          <a:effectLst/>
                          <a:latin typeface="Calibri"/>
                          <a:ea typeface="Aptos" panose="020B0004020202020204" pitchFamily="34" charset="0"/>
                        </a:rPr>
                        <a:t>Host to Host Bank Integration</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F5F7FA"/>
                    </a:solidFill>
                  </a:tcPr>
                </a:tc>
                <a:tc>
                  <a:txBody>
                    <a:bodyPr/>
                    <a:lstStyle/>
                    <a:p>
                      <a:pPr algn="ctr">
                        <a:spcBef>
                          <a:spcPts val="0"/>
                        </a:spcBef>
                        <a:spcAft>
                          <a:spcPts val="0"/>
                        </a:spcAft>
                        <a:buNone/>
                      </a:pPr>
                      <a:r>
                        <a:rPr lang="en-US" sz="900" b="1" dirty="0">
                          <a:ln>
                            <a:noFill/>
                          </a:ln>
                          <a:solidFill>
                            <a:srgbClr val="536275"/>
                          </a:solidFill>
                          <a:effectLst/>
                          <a:latin typeface="Calibri"/>
                          <a:ea typeface="Aptos" panose="020B0004020202020204" pitchFamily="34" charset="0"/>
                        </a:rPr>
                        <a:t>YTS</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EDF0F4"/>
                    </a:solidFill>
                  </a:tcPr>
                </a:tc>
                <a:tc>
                  <a:txBody>
                    <a:bodyPr/>
                    <a:lstStyle/>
                    <a:p>
                      <a:pPr algn="l">
                        <a:spcBef>
                          <a:spcPts val="0"/>
                        </a:spcBef>
                        <a:spcAft>
                          <a:spcPts val="0"/>
                        </a:spcAft>
                        <a:buNone/>
                      </a:pPr>
                      <a:r>
                        <a:rPr lang="en-US" sz="900" b="0" dirty="0">
                          <a:ln>
                            <a:noFill/>
                          </a:ln>
                          <a:solidFill>
                            <a:srgbClr val="243142"/>
                          </a:solidFill>
                          <a:effectLst/>
                          <a:latin typeface="Calibri"/>
                          <a:ea typeface="Aptos" panose="020B0004020202020204" pitchFamily="34" charset="0"/>
                        </a:rPr>
                        <a:t>Bank formalities by business are getting completed  by 6</a:t>
                      </a:r>
                      <a:r>
                        <a:rPr lang="en-US" sz="900" b="0" baseline="30000" dirty="0">
                          <a:ln>
                            <a:noFill/>
                          </a:ln>
                          <a:solidFill>
                            <a:srgbClr val="243142"/>
                          </a:solidFill>
                          <a:effectLst/>
                          <a:latin typeface="Calibri"/>
                          <a:ea typeface="Aptos" panose="020B0004020202020204" pitchFamily="34" charset="0"/>
                        </a:rPr>
                        <a:t>th</a:t>
                      </a:r>
                      <a:r>
                        <a:rPr lang="en-US" sz="900" b="0" dirty="0">
                          <a:ln>
                            <a:noFill/>
                          </a:ln>
                          <a:solidFill>
                            <a:srgbClr val="243142"/>
                          </a:solidFill>
                          <a:effectLst/>
                          <a:latin typeface="Calibri"/>
                          <a:ea typeface="Aptos" panose="020B0004020202020204" pitchFamily="34" charset="0"/>
                        </a:rPr>
                        <a:t> November 2026.</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F5F7FA"/>
                    </a:solidFill>
                  </a:tcPr>
                </a:tc>
                <a:extLst>
                  <a:ext uri="{0D108BD9-81ED-4DB2-BD59-A6C34878D82A}">
                    <a16:rowId xmlns:a16="http://schemas.microsoft.com/office/drawing/2014/main" val="2836905979"/>
                  </a:ext>
                </a:extLst>
              </a:tr>
              <a:tr h="260603">
                <a:tc>
                  <a:txBody>
                    <a:bodyPr/>
                    <a:lstStyle/>
                    <a:p>
                      <a:pPr marL="0" algn="ctr" defTabSz="914400" rtl="0" eaLnBrk="1" latinLnBrk="0" hangingPunct="1">
                        <a:spcBef>
                          <a:spcPts val="0"/>
                        </a:spcBef>
                        <a:spcAft>
                          <a:spcPts val="0"/>
                        </a:spcAft>
                        <a:buNone/>
                      </a:pPr>
                      <a:r>
                        <a:rPr lang="en-US" sz="900" b="0" kern="1200" dirty="0">
                          <a:ln>
                            <a:noFill/>
                          </a:ln>
                          <a:solidFill>
                            <a:srgbClr val="243142"/>
                          </a:solidFill>
                          <a:effectLst/>
                          <a:latin typeface="Calibri"/>
                          <a:ea typeface="Aptos" panose="020B0004020202020204" pitchFamily="34" charset="0"/>
                          <a:cs typeface="+mn-cs"/>
                        </a:rPr>
                        <a:t>11</a:t>
                      </a:r>
                      <a:endParaRPr lang="en-IN" sz="900" b="0" kern="1200" dirty="0">
                        <a:ln>
                          <a:noFill/>
                        </a:ln>
                        <a:solidFill>
                          <a:srgbClr val="243142"/>
                        </a:solidFill>
                        <a:effectLst/>
                        <a:latin typeface="Calibri"/>
                        <a:ea typeface="Aptos" panose="020B0004020202020204" pitchFamily="34" charset="0"/>
                        <a:cs typeface="+mn-cs"/>
                      </a:endParaRPr>
                    </a:p>
                  </a:txBody>
                  <a:tcPr marL="36576" marR="64008" marT="22860" marB="22860" anchor="ctr">
                    <a:solidFill>
                      <a:srgbClr val="F5F7FA"/>
                    </a:solidFill>
                  </a:tcPr>
                </a:tc>
                <a:tc>
                  <a:txBody>
                    <a:bodyPr/>
                    <a:lstStyle/>
                    <a:p>
                      <a:pPr algn="l">
                        <a:spcBef>
                          <a:spcPts val="0"/>
                        </a:spcBef>
                        <a:spcAft>
                          <a:spcPts val="0"/>
                        </a:spcAft>
                        <a:buNone/>
                      </a:pPr>
                      <a:r>
                        <a:rPr lang="en-US" sz="900" dirty="0">
                          <a:ln>
                            <a:noFill/>
                          </a:ln>
                          <a:solidFill>
                            <a:schemeClr val="tx1"/>
                          </a:solidFill>
                          <a:effectLst/>
                          <a:latin typeface="+mn-lt"/>
                          <a:ea typeface="Aptos" panose="020B0004020202020204" pitchFamily="34" charset="0"/>
                        </a:rPr>
                        <a:t>Bank Reconciliation</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F5F7FA"/>
                    </a:solidFill>
                  </a:tcPr>
                </a:tc>
                <a:tc>
                  <a:txBody>
                    <a:bodyPr/>
                    <a:lstStyle/>
                    <a:p>
                      <a:pPr marL="0" algn="ctr" defTabSz="914400" rtl="0" eaLnBrk="1" latinLnBrk="0" hangingPunct="1">
                        <a:spcBef>
                          <a:spcPts val="0"/>
                        </a:spcBef>
                        <a:spcAft>
                          <a:spcPts val="0"/>
                        </a:spcAft>
                        <a:buNone/>
                      </a:pPr>
                      <a:r>
                        <a:rPr lang="en-US" sz="900" b="1" kern="1200" dirty="0">
                          <a:ln>
                            <a:noFill/>
                          </a:ln>
                          <a:solidFill>
                            <a:srgbClr val="876314"/>
                          </a:solidFill>
                          <a:effectLst/>
                          <a:latin typeface="Calibri"/>
                          <a:ea typeface="+mn-ea"/>
                          <a:cs typeface="+mn-cs"/>
                        </a:rPr>
                        <a:t>UAT</a:t>
                      </a:r>
                      <a:endParaRPr lang="en-IN" sz="900" b="1" kern="1200" dirty="0">
                        <a:ln>
                          <a:noFill/>
                        </a:ln>
                        <a:solidFill>
                          <a:srgbClr val="876314"/>
                        </a:solidFill>
                        <a:effectLst/>
                        <a:latin typeface="Calibri"/>
                        <a:ea typeface="+mn-ea"/>
                        <a:cs typeface="+mn-cs"/>
                      </a:endParaRPr>
                    </a:p>
                  </a:txBody>
                  <a:tcPr marL="73152" marR="64008" marT="22860" marB="22860" anchor="ctr">
                    <a:solidFill>
                      <a:schemeClr val="accent4">
                        <a:lumMod val="20000"/>
                        <a:lumOff val="80000"/>
                      </a:schemeClr>
                    </a:solidFill>
                  </a:tcPr>
                </a:tc>
                <a:tc>
                  <a:txBody>
                    <a:bodyPr/>
                    <a:lstStyle/>
                    <a:p>
                      <a:pPr algn="l">
                        <a:spcBef>
                          <a:spcPts val="0"/>
                        </a:spcBef>
                        <a:spcAft>
                          <a:spcPts val="0"/>
                        </a:spcAft>
                        <a:buNone/>
                      </a:pPr>
                      <a:r>
                        <a:rPr lang="en-US" sz="900" dirty="0">
                          <a:ln>
                            <a:noFill/>
                          </a:ln>
                          <a:solidFill>
                            <a:schemeClr val="tx1"/>
                          </a:solidFill>
                          <a:effectLst/>
                          <a:latin typeface="+mn-lt"/>
                          <a:ea typeface="Aptos" panose="020B0004020202020204" pitchFamily="34" charset="0"/>
                        </a:rPr>
                        <a:t>If records exceed more than 100 then system exits the transaction. This is being worked upon. </a:t>
                      </a:r>
                      <a:endParaRPr lang="en-IN" sz="900" dirty="0">
                        <a:ln>
                          <a:noFill/>
                        </a:ln>
                        <a:solidFill>
                          <a:schemeClr val="tx1"/>
                        </a:solidFill>
                        <a:effectLst/>
                        <a:latin typeface="+mn-lt"/>
                        <a:ea typeface="Aptos" panose="020B0004020202020204" pitchFamily="34" charset="0"/>
                      </a:endParaRPr>
                    </a:p>
                  </a:txBody>
                  <a:tcPr marL="73152" marR="64008" marT="22860" marB="22860" anchor="ctr">
                    <a:solidFill>
                      <a:srgbClr val="F5F7FA"/>
                    </a:solidFill>
                  </a:tcPr>
                </a:tc>
                <a:extLst>
                  <a:ext uri="{0D108BD9-81ED-4DB2-BD59-A6C34878D82A}">
                    <a16:rowId xmlns:a16="http://schemas.microsoft.com/office/drawing/2014/main" val="1672519918"/>
                  </a:ext>
                </a:extLst>
              </a:tr>
            </a:tbl>
          </a:graphicData>
        </a:graphic>
      </p:graphicFrame>
    </p:spTree>
    <p:extLst>
      <p:ext uri="{BB962C8B-B14F-4D97-AF65-F5344CB8AC3E}">
        <p14:creationId xmlns:p14="http://schemas.microsoft.com/office/powerpoint/2010/main" val="3067107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0040" y="137160"/>
            <a:ext cx="8503920" cy="237744"/>
          </a:xfrm>
          <a:prstGeom prst="rect">
            <a:avLst/>
          </a:prstGeom>
          <a:noFill/>
          <a:ln/>
        </p:spPr>
        <p:txBody>
          <a:bodyPr wrap="square" lIns="0" tIns="0" rIns="0" bIns="0" rtlCol="0" anchor="ctr"/>
          <a:lstStyle/>
          <a:p>
            <a:pPr marL="0" indent="0">
              <a:buNone/>
            </a:pPr>
            <a:endParaRPr lang="en-US" sz="800" dirty="0"/>
          </a:p>
        </p:txBody>
      </p:sp>
      <p:sp>
        <p:nvSpPr>
          <p:cNvPr id="3" name="Text 1"/>
          <p:cNvSpPr/>
          <p:nvPr/>
        </p:nvSpPr>
        <p:spPr>
          <a:xfrm>
            <a:off x="320040" y="411480"/>
            <a:ext cx="8503920" cy="320040"/>
          </a:xfrm>
          <a:prstGeom prst="rect">
            <a:avLst/>
          </a:prstGeom>
          <a:noFill/>
          <a:ln/>
        </p:spPr>
        <p:txBody>
          <a:bodyPr wrap="square" lIns="0" tIns="0" rIns="0" bIns="0" rtlCol="0" anchor="ctr"/>
          <a:lstStyle/>
          <a:p>
            <a:pPr marL="0" indent="0">
              <a:buNone/>
            </a:pPr>
            <a:endParaRPr lang="en-US" sz="1800" dirty="0"/>
          </a:p>
        </p:txBody>
      </p:sp>
      <p:sp>
        <p:nvSpPr>
          <p:cNvPr id="13" name="Shape 11"/>
          <p:cNvSpPr/>
          <p:nvPr/>
        </p:nvSpPr>
        <p:spPr>
          <a:xfrm>
            <a:off x="274320" y="3108960"/>
            <a:ext cx="8595360" cy="1371600"/>
          </a:xfrm>
          <a:prstGeom prst="roundRect">
            <a:avLst>
              <a:gd name="adj" fmla="val 5333"/>
            </a:avLst>
          </a:prstGeom>
          <a:solidFill>
            <a:srgbClr val="0B2344"/>
          </a:solidFill>
          <a:ln w="12700">
            <a:solidFill>
              <a:srgbClr val="0B2344"/>
            </a:solidFill>
            <a:prstDash val="solid"/>
          </a:ln>
        </p:spPr>
        <p:txBody>
          <a:bodyPr/>
          <a:lstStyle/>
          <a:p>
            <a:endParaRPr lang="en-US"/>
          </a:p>
        </p:txBody>
      </p:sp>
      <p:sp>
        <p:nvSpPr>
          <p:cNvPr id="14" name="Text 12"/>
          <p:cNvSpPr/>
          <p:nvPr/>
        </p:nvSpPr>
        <p:spPr>
          <a:xfrm>
            <a:off x="457200" y="3291840"/>
            <a:ext cx="8229600" cy="36576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Thank You</a:t>
            </a:r>
            <a:endParaRPr lang="en-US" sz="2200" dirty="0"/>
          </a:p>
        </p:txBody>
      </p:sp>
      <p:sp>
        <p:nvSpPr>
          <p:cNvPr id="15" name="Text 13"/>
          <p:cNvSpPr/>
          <p:nvPr/>
        </p:nvSpPr>
        <p:spPr>
          <a:xfrm>
            <a:off x="457200" y="3794760"/>
            <a:ext cx="8229600" cy="502920"/>
          </a:xfrm>
          <a:prstGeom prst="rect">
            <a:avLst/>
          </a:prstGeom>
          <a:noFill/>
          <a:ln/>
        </p:spPr>
        <p:txBody>
          <a:bodyPr wrap="square" lIns="0" tIns="0" rIns="0" bIns="0" rtlCol="0" anchor="ctr"/>
          <a:lstStyle/>
          <a:p>
            <a:pPr marL="0" indent="0" algn="ctr">
              <a:buNone/>
            </a:pPr>
            <a:r>
              <a:rPr lang="en-US" sz="1300" dirty="0">
                <a:solidFill>
                  <a:srgbClr val="D4AF70"/>
                </a:solidFill>
                <a:latin typeface="Calibri" pitchFamily="34" charset="0"/>
                <a:ea typeface="Calibri" pitchFamily="34" charset="-122"/>
                <a:cs typeface="Calibri" pitchFamily="34" charset="-120"/>
              </a:rPr>
              <a:t>Black Box remains committed to supporting Ultra Gas &amp; Greenline</a:t>
            </a:r>
            <a:endParaRPr lang="en-US" sz="1300" dirty="0"/>
          </a:p>
          <a:p>
            <a:pPr marL="0" indent="0" algn="ctr">
              <a:buNone/>
            </a:pPr>
            <a:r>
              <a:rPr lang="en-US" sz="1300" dirty="0">
                <a:solidFill>
                  <a:srgbClr val="D4AF70"/>
                </a:solidFill>
                <a:latin typeface="Calibri" pitchFamily="34" charset="0"/>
                <a:ea typeface="Calibri" pitchFamily="34" charset="-122"/>
                <a:cs typeface="Calibri" pitchFamily="34" charset="-120"/>
              </a:rPr>
              <a:t>with reliable application support, continuous enhancements and timely incident resolution.</a:t>
            </a:r>
            <a:endParaRPr lang="en-US" sz="1300" dirty="0"/>
          </a:p>
        </p:txBody>
      </p:sp>
      <p:sp>
        <p:nvSpPr>
          <p:cNvPr id="16" name="Shape 14"/>
          <p:cNvSpPr/>
          <p:nvPr/>
        </p:nvSpPr>
        <p:spPr>
          <a:xfrm>
            <a:off x="0" y="4828032"/>
            <a:ext cx="9144000" cy="310896"/>
          </a:xfrm>
          <a:prstGeom prst="rect">
            <a:avLst/>
          </a:prstGeom>
          <a:solidFill>
            <a:srgbClr val="0B2344"/>
          </a:solidFill>
          <a:ln w="12700">
            <a:solidFill>
              <a:srgbClr val="0B2344"/>
            </a:solidFill>
            <a:prstDash val="solid"/>
          </a:ln>
        </p:spPr>
        <p:txBody>
          <a:bodyPr/>
          <a:lstStyle/>
          <a:p>
            <a:endParaRPr lang="en-US"/>
          </a:p>
        </p:txBody>
      </p:sp>
      <p:sp>
        <p:nvSpPr>
          <p:cNvPr id="17" name="Text 15"/>
          <p:cNvSpPr/>
          <p:nvPr/>
        </p:nvSpPr>
        <p:spPr>
          <a:xfrm>
            <a:off x="274320" y="4828032"/>
            <a:ext cx="7132320" cy="310896"/>
          </a:xfrm>
          <a:prstGeom prst="rect">
            <a:avLst/>
          </a:prstGeom>
          <a:noFill/>
          <a:ln/>
        </p:spPr>
        <p:txBody>
          <a:bodyPr wrap="square" lIns="0" tIns="0" rIns="0" bIns="0" rtlCol="0" anchor="ctr"/>
          <a:lstStyle/>
          <a:p>
            <a:pPr marL="0" indent="0">
              <a:buNone/>
            </a:pPr>
            <a:r>
              <a:rPr lang="en-US" sz="800" dirty="0">
                <a:solidFill>
                  <a:srgbClr val="B5935A"/>
                </a:solidFill>
                <a:latin typeface="Calibri" pitchFamily="34" charset="0"/>
                <a:ea typeface="Calibri" pitchFamily="34" charset="-122"/>
                <a:cs typeface="Calibri" pitchFamily="34" charset="-120"/>
              </a:rPr>
              <a:t>Black Box  |  Application Support Report  |  Ultra Gas &amp; Greenline  |  October 2026</a:t>
            </a:r>
            <a:endParaRPr lang="en-US" sz="800" dirty="0"/>
          </a:p>
        </p:txBody>
      </p:sp>
      <p:sp>
        <p:nvSpPr>
          <p:cNvPr id="18" name="Text 16"/>
          <p:cNvSpPr/>
          <p:nvPr/>
        </p:nvSpPr>
        <p:spPr>
          <a:xfrm>
            <a:off x="7863840" y="4828032"/>
            <a:ext cx="1097280" cy="310896"/>
          </a:xfrm>
          <a:prstGeom prst="rect">
            <a:avLst/>
          </a:prstGeom>
          <a:noFill/>
          <a:ln/>
        </p:spPr>
        <p:txBody>
          <a:bodyPr wrap="square" lIns="0" tIns="0" rIns="0" bIns="0" rtlCol="0" anchor="ctr"/>
          <a:lstStyle/>
          <a:p>
            <a:pPr marL="0" indent="0" algn="r">
              <a:buNone/>
            </a:pPr>
            <a:r>
              <a:rPr lang="en-US" sz="800" dirty="0">
                <a:solidFill>
                  <a:srgbClr val="718096"/>
                </a:solidFill>
                <a:latin typeface="Calibri" pitchFamily="34" charset="0"/>
                <a:ea typeface="Calibri" pitchFamily="34" charset="-122"/>
                <a:cs typeface="Calibri" pitchFamily="34" charset="-120"/>
              </a:rPr>
              <a:t>10/ 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TotalTime>
  <Words>1959</Words>
  <Application>Microsoft Office PowerPoint</Application>
  <PresentationFormat>On-screen Show (16:9)</PresentationFormat>
  <Paragraphs>208</Paragraphs>
  <Slides>11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Ultra Gas &amp; Greenline – Black Box Support Report – October 2026</dc:title>
  <dc:subject>PptxGenJS Presentation</dc:subject>
  <dc:creator>Black Box</dc:creator>
  <cp:lastModifiedBy>Gaurav Shah</cp:lastModifiedBy>
  <cp:revision>11</cp:revision>
  <dcterms:created xsi:type="dcterms:W3CDTF">2026-10-26T05:12:55Z</dcterms:created>
  <dcterms:modified xsi:type="dcterms:W3CDTF">2026-10-30T09:09:08Z</dcterms:modified>
</cp:coreProperties>
</file>